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5505056" d="2228340"/>
          <a:sy n="3014710" d="7602293"/>
        </p:scale>
        <p:origin x="7667811" y="6619245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 /><Relationship Id="rId40" Type="http://schemas.openxmlformats.org/officeDocument/2006/relationships/tableStyles" Target="tableStyles.xml" /><Relationship Id="rId41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9099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4122848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DB3CC4C6-620A-C669-F77B-6246763E39E9}" type="datetimeFigureOut">
              <a:rPr lang="en-US"/>
              <a:t/>
            </a:fld>
            <a:endParaRPr/>
          </a:p>
        </p:txBody>
      </p:sp>
      <p:sp>
        <p:nvSpPr>
          <p:cNvPr id="117753307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2212781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4A4080B3-F4C2-9B54-A538-9672F3325500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721134" name="Header Placeholder"/>
          <p:cNvSpPr/>
          <p:nvPr>
            <p:ph type="hdr" sz="quarter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255724" name="Date Placeholder"/>
          <p:cNvSpPr/>
          <p:nvPr>
            <p:ph type="dt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28587" name="Slide Image Placeholder"/>
          <p:cNvSpPr/>
          <p:nvPr>
            <p:ph type="sldImg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824919" name="Notes Placeholder"/>
          <p:cNvSpPr/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7386553" name="Footer Placeholder"/>
          <p:cNvSpPr/>
          <p:nvPr>
            <p:ph type="ftr" sz="quarter" idx="4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840393" name="Slide Number Placeholder"/>
          <p:cNvSpPr/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853185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704235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Continuação da Aula 1. Material didático com exemplos ilustrativos. A seção de modelos locais adapta conceitos do material do professor n8n_curso_parte_2.pdf, páginas 19–32, com atualização de terminologia e restrições. Fontes externas estão nas notas dos respectivos slides. Consulta em 17/10/2026.</a:t>
            </a:r>
            <a:endParaRPr/>
          </a:p>
          <a:p>
            <a:pPr>
              <a:buNone/>
              <a:defRPr/>
            </a:pPr>
            <a:r>
              <a:rPr/>
              <a:t>Correção conceitual: SDD significa Spec-Driven Development, abordagem que mantém especificações antes e durante a implementação para orientar código e validação. SPEC.md registra a especificação na convenção desta aula. Não há arquivo obrigatório chamado SDD.md.</a:t>
            </a:r>
            <a:endParaRPr/>
          </a:p>
          <a:p>
            <a:pPr>
              <a:buNone/>
              <a:defRPr/>
            </a:pPr>
            <a:r>
              <a:rPr/>
              <a:t>Adaptação didática inspirada em Fabio Akita. O conjunto de arquivos CONTEXT.md, PRD.md e SPEC.md e o uso de SDD não são uma prescrição dos dois artigos. A comparação AGENTS.md/CLAUDE.md é complemento técnico.</a:t>
            </a:r>
            <a:endParaRPr/>
          </a:p>
          <a:p>
            <a:pPr>
              <a:buNone/>
              <a:defRPr/>
            </a:pPr>
            <a:r>
              <a:rPr/>
              <a:t>Fontes: https://akitaonrails.com/2026/02/20/do-zero-a-pos-producao-em-1-semana-como-usar-ia-em-projetos-de-verdade-bastidores-do-the-m-akita-chronicles/</a:t>
            </a:r>
            <a:endParaRPr/>
          </a:p>
          <a:p>
            <a:pPr>
              <a:buNone/>
              <a:defRPr/>
            </a:pPr>
            <a:r>
              <a:rPr/>
              <a:t>https://akitaonrails.com/2026/02/24/rant-o-akita-abriu-as-pernas-pra-ia/</a:t>
            </a:r>
            <a:endParaRPr/>
          </a:p>
        </p:txBody>
      </p:sp>
      <p:sp>
        <p:nvSpPr>
          <p:cNvPr id="195543278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56925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949639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Revisão do conteúdo da aula 2.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674134236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240047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459025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https://agentskills.io/home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187321225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301289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808620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https://agentskills.io/home</a:t>
            </a:r>
            <a:endParaRPr/>
          </a:p>
          <a:p>
            <a:pPr>
              <a:buNone/>
              <a:defRPr/>
            </a:pPr>
            <a:r>
              <a:rPr/>
              <a:t>Fonte: https://agentskills.io/specification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273981501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739797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849637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Comparação didática. A descoberta e o escopo das instruções dependem da ferramenta.</a:t>
            </a:r>
            <a:endParaRPr/>
          </a:p>
          <a:p>
            <a:pPr>
              <a:buNone/>
              <a:defRPr/>
            </a:pPr>
            <a:r>
              <a:rPr/>
              <a:t>Fonte: https://code.claude.com/docs/en/skills</a:t>
            </a:r>
            <a:endParaRPr/>
          </a:p>
          <a:p>
            <a:pPr>
              <a:buNone/>
              <a:defRPr/>
            </a:pPr>
            <a:r>
              <a:rPr/>
              <a:t>Fonte: https://developers.openai.com/plugins/concepts/skills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201252406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69238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49864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https://agentskills.io/specification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507371272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756227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178758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https://agentskills.io/home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2140122882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71825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83923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Site recomendado para pesquisa e descoberta: https://www.skills.sh/</a:t>
            </a:r>
            <a:endParaRPr/>
          </a:p>
          <a:p>
            <a:pPr>
              <a:buNone/>
              <a:defRPr/>
            </a:pPr>
            <a:r>
              <a:rPr/>
              <a:t>Catálogo consultado em 25/10/2026. O catálogo inclui skills de diferentes autores e o ranking não é uma garantia de adequação ou qualidade.</a:t>
            </a:r>
            <a:endParaRPr/>
          </a:p>
        </p:txBody>
      </p:sp>
      <p:sp>
        <p:nvSpPr>
          <p:cNvPr id="75956897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04285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683227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Seleção didática dentro do ranking, não as cinco primeiras posições. O ranking usa instalações reportadas ao diretório e varia ao longo do tempo.</a:t>
            </a:r>
            <a:endParaRPr/>
          </a:p>
          <a:p>
            <a:pPr>
              <a:buNone/>
              <a:defRPr/>
            </a:pPr>
            <a:r>
              <a:rPr/>
              <a:t>Fonte: https://skills.sh/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167957022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62191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20932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https://github.com/vercel-labs/skills/blob/main/skills/find-skills/SKILL.md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  <a:p>
            <a:pPr>
              <a:buNone/>
              <a:defRPr/>
            </a:pPr>
            <a:r>
              <a:rPr/>
              <a:t>Página no catálogo recomendado: https://www.skills.sh/vercel-labs/skills/find-skills</a:t>
            </a:r>
            <a:endParaRPr/>
          </a:p>
          <a:p>
            <a:pPr>
              <a:buNone/>
              <a:defRPr/>
            </a:pPr>
            <a:r>
              <a:rPr/>
              <a:t>Seleção conferida em 25/10/2026.</a:t>
            </a:r>
            <a:endParaRPr/>
          </a:p>
        </p:txBody>
      </p:sp>
      <p:sp>
        <p:nvSpPr>
          <p:cNvPr id="67266385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86536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336463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https://github.com/vercel-labs/agent-browser/blob/main/skills/agent-browser/SKILL.md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  <a:p>
            <a:pPr>
              <a:buNone/>
              <a:defRPr/>
            </a:pPr>
            <a:r>
              <a:rPr/>
              <a:t>Página no catálogo recomendado: https://www.skills.sh/vercel-labs/agent-browser/agent-browser</a:t>
            </a:r>
            <a:endParaRPr/>
          </a:p>
          <a:p>
            <a:pPr>
              <a:buNone/>
              <a:defRPr/>
            </a:pPr>
            <a:r>
              <a:rPr/>
              <a:t>Seleção conferida em 25/10/2026.</a:t>
            </a:r>
            <a:endParaRPr/>
          </a:p>
        </p:txBody>
      </p:sp>
      <p:sp>
        <p:nvSpPr>
          <p:cNvPr id="201622041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68484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039808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https://github.com/anthropics/skills/blob/main/skills/frontend-design/SKILL.md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  <a:p>
            <a:pPr>
              <a:buNone/>
              <a:defRPr/>
            </a:pPr>
            <a:r>
              <a:rPr/>
              <a:t>Página no catálogo recomendado: https://www.skills.sh/anthropics/skills/frontend-design</a:t>
            </a:r>
            <a:endParaRPr/>
          </a:p>
          <a:p>
            <a:pPr>
              <a:buNone/>
              <a:defRPr/>
            </a:pPr>
            <a:r>
              <a:rPr/>
              <a:t>Seleção conferida em 25/10/2026.</a:t>
            </a:r>
            <a:endParaRPr/>
          </a:p>
        </p:txBody>
      </p:sp>
      <p:sp>
        <p:nvSpPr>
          <p:cNvPr id="130413885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088329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789133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https://github.com/vercel-labs/agent-skills/blob/main/skills/react-best-practices/SKILL.md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  <a:p>
            <a:pPr>
              <a:buNone/>
              <a:defRPr/>
            </a:pPr>
            <a:r>
              <a:rPr/>
              <a:t>Página no catálogo recomendado: https://www.skills.sh/vercel-labs/agent-skills/vercel-react-best-practices</a:t>
            </a:r>
            <a:endParaRPr/>
          </a:p>
          <a:p>
            <a:pPr>
              <a:buNone/>
              <a:defRPr/>
            </a:pPr>
            <a:r>
              <a:rPr/>
              <a:t>Seleção conferida em 25/10/2026.</a:t>
            </a:r>
            <a:endParaRPr/>
          </a:p>
        </p:txBody>
      </p:sp>
      <p:sp>
        <p:nvSpPr>
          <p:cNvPr id="179040790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88636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953573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https://github.com/vercel-labs/agent-skills/blob/main/skills/web-design-guidelines/SKILL.md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  <a:p>
            <a:pPr>
              <a:buNone/>
              <a:defRPr/>
            </a:pPr>
            <a:r>
              <a:rPr/>
              <a:t>Página no catálogo recomendado: https://www.skills.sh/vercel-labs/agent-skills/web-design-guidelines</a:t>
            </a:r>
            <a:endParaRPr/>
          </a:p>
          <a:p>
            <a:pPr>
              <a:buNone/>
              <a:defRPr/>
            </a:pPr>
            <a:r>
              <a:rPr/>
              <a:t>Seleção conferida em 25/10/2026.</a:t>
            </a:r>
            <a:endParaRPr/>
          </a:p>
        </p:txBody>
      </p:sp>
      <p:sp>
        <p:nvSpPr>
          <p:cNvPr id="253117532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97038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998991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A implementação consultada usa a skill de apoio grilling. A descrição funcional foi conferida no README do próprio autor e na página do catálogo. Exemplo de pedido didático; a sintaxe de invocação depende do agente.</a:t>
            </a:r>
            <a:endParaRPr/>
          </a:p>
          <a:p>
            <a:pPr>
              <a:buNone/>
              <a:defRPr/>
            </a:pPr>
            <a:r>
              <a:rPr/>
              <a:t>Fonte: https://www.skills.sh/mattpocock/skills/grill-me</a:t>
            </a:r>
            <a:endParaRPr/>
          </a:p>
          <a:p>
            <a:pPr>
              <a:buNone/>
              <a:defRPr/>
            </a:pPr>
            <a:r>
              <a:rPr/>
              <a:t>Fonte: https://github.com/mattpocock/skills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127143184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07491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581956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https://www.skills.sh/supabase/agent-skills/supabase-postgres-best-practices</a:t>
            </a:r>
            <a:endParaRPr/>
          </a:p>
          <a:p>
            <a:pPr>
              <a:buNone/>
              <a:defRPr/>
            </a:pPr>
            <a:r>
              <a:rPr/>
              <a:t>Fonte: https://github.com/supabase/agent-skills/blob/main/skills/supabase-postgres-best-practices/SKILL.md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178482722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76937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1988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https://github.com/anthropics/skills/blob/main/skills/xlsx/SKILL.md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149637060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781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9781157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https://github.com/anthropics/skills/blob/main/skills/pdf/SKILL.md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1520162852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97489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307740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https://github.com/anthropics/skills/blob/main/skills/skill-creator/SKILL.md</a:t>
            </a:r>
            <a:endParaRPr/>
          </a:p>
          <a:p>
            <a:pPr>
              <a:buNone/>
              <a:defRPr/>
            </a:pPr>
            <a:r>
              <a:rPr/>
              <a:t>Fonte: https://learn.chatgpt.com/docs/build-skills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108429368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84575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723231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https://modelcontextprotocol.io/docs/getting-started/intro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68401694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285949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783626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Fluxo simplificado. Nomes de ferramentas e resultados dependem do servidor instalado. Servidores podem funcionar localmente ou remotamente.</a:t>
            </a:r>
            <a:endParaRPr/>
          </a:p>
          <a:p>
            <a:pPr>
              <a:buNone/>
              <a:defRPr/>
            </a:pPr>
            <a:r>
              <a:rPr/>
              <a:t>Fonte: https://modelcontextprotocol.io/docs/learn/architecture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50733320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9441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771411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Uma ferramenta pode chamar uma API. Um servidor MCP pode expor essa ferramenta. Um workflow também pode operar com arquivos locais sem MCP.</a:t>
            </a:r>
            <a:endParaRPr/>
          </a:p>
          <a:p>
            <a:pPr>
              <a:buNone/>
              <a:defRPr/>
            </a:pPr>
            <a:r>
              <a:rPr/>
              <a:t>Fonte: https://developers.openai.com/plugins/concepts/skills</a:t>
            </a:r>
            <a:endParaRPr/>
          </a:p>
          <a:p>
            <a:pPr>
              <a:buNone/>
              <a:defRPr/>
            </a:pPr>
            <a:r>
              <a:rPr/>
              <a:t>Fonte: https://modelcontextprotocol.io/docs/learn/architecture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1836889486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64404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685755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Fonte: https://developers.openai.com/plugins/concepts/skills</a:t>
            </a:r>
            <a:endParaRPr/>
          </a:p>
          <a:p>
            <a:pPr>
              <a:buNone/>
              <a:defRPr/>
            </a:pPr>
            <a:r>
              <a:rPr/>
              <a:t>Fontes consultadas em 21/10/2026.</a:t>
            </a:r>
            <a:endParaRPr/>
          </a:p>
        </p:txBody>
      </p:sp>
      <p:sp>
        <p:nvSpPr>
          <p:cNvPr id="2004826846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84749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184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Fonte: https://agentskills.io/skill-creation/best-practices</a:t>
            </a:r>
            <a:endParaRPr/>
          </a:p>
          <a:p>
            <a:pPr>
              <a:defRPr/>
            </a:pPr>
            <a:r>
              <a:rPr/>
              <a:t>Fonte: https://agentskills.io/specification</a:t>
            </a:r>
            <a:endParaRPr/>
          </a:p>
          <a:p>
            <a:pPr>
              <a:defRPr/>
            </a:pPr>
            <a:r>
              <a:rPr/>
              <a:t>Fontes consultadas em 25/10/2026.</a:t>
            </a:r>
            <a:endParaRPr/>
          </a:p>
        </p:txBody>
      </p:sp>
      <p:sp>
        <p:nvSpPr>
          <p:cNvPr id="1612899582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50852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910428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Fonte: https://agentskills.io/skill-creation/best-practices</a:t>
            </a:r>
            <a:endParaRPr/>
          </a:p>
          <a:p>
            <a:pPr>
              <a:defRPr/>
            </a:pPr>
            <a:r>
              <a:rPr/>
              <a:t>Fontes consultadas em 25/10/2026.</a:t>
            </a:r>
            <a:endParaRPr/>
          </a:p>
        </p:txBody>
      </p:sp>
      <p:sp>
        <p:nvSpPr>
          <p:cNvPr id="18776353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58514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225525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Fonte: https://agentskills.io/skill-creation/best-practices</a:t>
            </a:r>
            <a:endParaRPr/>
          </a:p>
          <a:p>
            <a:pPr>
              <a:defRPr/>
            </a:pPr>
            <a:r>
              <a:rPr/>
              <a:t>Fontes consultadas em 25/10/2026.</a:t>
            </a:r>
            <a:endParaRPr/>
          </a:p>
        </p:txBody>
      </p:sp>
      <p:sp>
        <p:nvSpPr>
          <p:cNvPr id="58055113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59203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122970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Fonte: https://agentskills.io/specification</a:t>
            </a:r>
            <a:endParaRPr/>
          </a:p>
          <a:p>
            <a:pPr>
              <a:defRPr/>
            </a:pPr>
            <a:r>
              <a:rPr/>
              <a:t>Fonte: https://learn.chatgpt.com/docs/build-skills</a:t>
            </a:r>
            <a:endParaRPr/>
          </a:p>
          <a:p>
            <a:pPr>
              <a:defRPr/>
            </a:pPr>
            <a:r>
              <a:rPr/>
              <a:t>Fonte: https://code.claude.com/docs/en/skills</a:t>
            </a:r>
            <a:endParaRPr/>
          </a:p>
          <a:p>
            <a:pPr>
              <a:defRPr/>
            </a:pPr>
            <a:r>
              <a:rPr/>
              <a:t>Fontes consultadas em 25/10/2026.</a:t>
            </a:r>
            <a:endParaRPr/>
          </a:p>
        </p:txBody>
      </p:sp>
      <p:sp>
        <p:nvSpPr>
          <p:cNvPr id="106352845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451655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784890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Fonte: https://agentskills.io/specification</a:t>
            </a:r>
            <a:endParaRPr/>
          </a:p>
          <a:p>
            <a:pPr>
              <a:defRPr/>
            </a:pPr>
            <a:r>
              <a:rPr/>
              <a:t>Fonte: https://developers.openai.com/plugins/build/skills</a:t>
            </a:r>
            <a:endParaRPr/>
          </a:p>
          <a:p>
            <a:pPr>
              <a:defRPr/>
            </a:pPr>
            <a:r>
              <a:rPr/>
              <a:t>Fontes consultadas em 25/10/2026.</a:t>
            </a:r>
            <a:endParaRPr/>
          </a:p>
        </p:txBody>
      </p:sp>
      <p:sp>
        <p:nvSpPr>
          <p:cNvPr id="1375415160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14896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71582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Fonte: https://developers.openai.com/plugins/build/skills</a:t>
            </a:r>
            <a:endParaRPr/>
          </a:p>
          <a:p>
            <a:pPr>
              <a:defRPr/>
            </a:pPr>
            <a:r>
              <a:rPr/>
              <a:t>Fonte: https://agentskills.io/skill-creation/best-practices</a:t>
            </a:r>
            <a:endParaRPr/>
          </a:p>
          <a:p>
            <a:pPr>
              <a:defRPr/>
            </a:pPr>
            <a:r>
              <a:rPr/>
              <a:t>Fontes consultadas em 25/10/2026.</a:t>
            </a:r>
            <a:endParaRPr/>
          </a:p>
        </p:txBody>
      </p:sp>
      <p:sp>
        <p:nvSpPr>
          <p:cNvPr id="137327279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67289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306078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Fonte: https://learn.chatgpt.com/docs/build-skills</a:t>
            </a:r>
            <a:endParaRPr/>
          </a:p>
          <a:p>
            <a:pPr>
              <a:defRPr/>
            </a:pPr>
            <a:r>
              <a:rPr/>
              <a:t>Fonte: https://code.claude.com/docs/en/skills</a:t>
            </a:r>
            <a:endParaRPr/>
          </a:p>
          <a:p>
            <a:pPr>
              <a:defRPr/>
            </a:pPr>
            <a:r>
              <a:rPr/>
              <a:t>Fonte: https://developers.openai.com/blog/eval-skills</a:t>
            </a:r>
            <a:endParaRPr/>
          </a:p>
          <a:p>
            <a:pPr>
              <a:defRPr/>
            </a:pPr>
            <a:r>
              <a:rPr/>
              <a:t>Fontes consultadas em 25/10/2026.</a:t>
            </a:r>
            <a:endParaRPr/>
          </a:p>
        </p:txBody>
      </p:sp>
      <p:sp>
        <p:nvSpPr>
          <p:cNvPr id="118255455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50671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8778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Fonte: https://agentskills.io/skill-creation/best-practices</a:t>
            </a:r>
            <a:endParaRPr/>
          </a:p>
          <a:p>
            <a:pPr>
              <a:defRPr/>
            </a:pPr>
            <a:r>
              <a:rPr/>
              <a:t>Fontes consultadas em 25/10/2026.</a:t>
            </a:r>
            <a:endParaRPr/>
          </a:p>
        </p:txBody>
      </p:sp>
      <p:sp>
        <p:nvSpPr>
          <p:cNvPr id="64490861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68258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969782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Fonte: https://agentskills.io/skill-creation/best-practices</a:t>
            </a:r>
            <a:endParaRPr/>
          </a:p>
          <a:p>
            <a:pPr>
              <a:defRPr/>
            </a:pPr>
            <a:r>
              <a:rPr/>
              <a:t>Fonte: https://developers.openai.com/blog/eval-skills</a:t>
            </a:r>
            <a:endParaRPr/>
          </a:p>
          <a:p>
            <a:pPr>
              <a:defRPr/>
            </a:pPr>
            <a:r>
              <a:rPr/>
              <a:t>Fontes consultadas em 25/10/2026.</a:t>
            </a:r>
            <a:endParaRPr/>
          </a:p>
        </p:txBody>
      </p:sp>
      <p:sp>
        <p:nvSpPr>
          <p:cNvPr id="36408584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161638" name="Title"/>
          <p:cNvSpPr>
            <a:spLocks noGrp="1"/>
          </p:cNvSpPr>
          <p:nvPr>
            <p:ph type="title" idx="0"/>
          </p:nvPr>
        </p:nvSpPr>
        <p:spPr bwMode="auto"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buNone/>
              <a:defRPr/>
            </a:pPr>
            <a:endParaRPr/>
          </a:p>
        </p:txBody>
      </p:sp>
      <p:sp>
        <p:nvSpPr>
          <p:cNvPr id="2135650803" name="Subtitle"/>
          <p:cNvSpPr>
            <a:spLocks noGrp="1"/>
          </p:cNvSpPr>
          <p:nvPr>
            <p:ph type="subTitle" idx="1"/>
          </p:nvPr>
        </p:nvSpPr>
        <p:spPr bwMode="auto"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955848" name="Section title"/>
          <p:cNvSpPr>
            <a:spLocks noGrp="1"/>
          </p:cNvSpPr>
          <p:nvPr>
            <p:ph type="title" idx="0"/>
          </p:nvPr>
        </p:nvSpPr>
        <p:spPr bwMode="auto"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and 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227812" name="Title"/>
          <p:cNvSpPr>
            <a:spLocks noGrp="1"/>
          </p:cNvSpPr>
          <p:nvPr>
            <p:ph type="title" idx="0"/>
          </p:nvPr>
        </p:nvSpPr>
        <p:spPr bwMode="auto"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buNone/>
              <a:defRPr/>
            </a:pPr>
            <a:endParaRPr/>
          </a:p>
        </p:txBody>
      </p:sp>
      <p:sp>
        <p:nvSpPr>
          <p:cNvPr id="1985421003" name="Body"/>
          <p:cNvSpPr>
            <a:spLocks noGrp="1"/>
          </p:cNvSpPr>
          <p:nvPr>
            <p:ph type="body" idx="1"/>
          </p:nvPr>
        </p:nvSpPr>
        <p:spPr bwMode="auto"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and Two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290351" name="Title"/>
          <p:cNvSpPr>
            <a:spLocks noGrp="1"/>
          </p:cNvSpPr>
          <p:nvPr>
            <p:ph type="title" idx="0"/>
          </p:nvPr>
        </p:nvSpPr>
        <p:spPr bwMode="auto"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buNone/>
              <a:defRPr/>
            </a:pPr>
            <a:endParaRPr/>
          </a:p>
        </p:txBody>
      </p:sp>
      <p:sp>
        <p:nvSpPr>
          <p:cNvPr id="144766906" name="Left column"/>
          <p:cNvSpPr>
            <a:spLocks noGrp="1"/>
          </p:cNvSpPr>
          <p:nvPr>
            <p:ph type="body" idx="1"/>
          </p:nvPr>
        </p:nvSpPr>
        <p:spPr bwMode="auto"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/>
            </a:pPr>
            <a:endParaRPr/>
          </a:p>
        </p:txBody>
      </p:sp>
      <p:sp>
        <p:nvSpPr>
          <p:cNvPr id="1615970203" name="Right column"/>
          <p:cNvSpPr>
            <a:spLocks noGrp="1"/>
          </p:cNvSpPr>
          <p:nvPr>
            <p:ph type="body" idx="2"/>
          </p:nvPr>
        </p:nvSpPr>
        <p:spPr bwMode="auto"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and One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932012" name="Title"/>
          <p:cNvSpPr>
            <a:spLocks noGrp="1"/>
          </p:cNvSpPr>
          <p:nvPr>
            <p:ph type="title" idx="0"/>
          </p:nvPr>
        </p:nvSpPr>
        <p:spPr bwMode="auto"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buNone/>
              <a:defRPr/>
            </a:pPr>
            <a:endParaRPr/>
          </a:p>
        </p:txBody>
      </p:sp>
      <p:sp>
        <p:nvSpPr>
          <p:cNvPr id="1082241807" name="Left column"/>
          <p:cNvSpPr>
            <a:spLocks noGrp="1"/>
          </p:cNvSpPr>
          <p:nvPr>
            <p:ph type="body" idx="1"/>
          </p:nvPr>
        </p:nvSpPr>
        <p:spPr bwMode="auto"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Master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1B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765371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DCFA"/>
                </a:solidFill>
                <a:latin typeface="Arial"/>
                <a:ea typeface="Arial"/>
                <a:cs typeface="Arial"/>
              </a:rPr>
              <a:t>01 / 36</a:t>
            </a:r>
            <a:endParaRPr/>
          </a:p>
        </p:txBody>
      </p:sp>
      <p:sp>
        <p:nvSpPr>
          <p:cNvPr id="51123368" name=""/>
          <p:cNvSpPr>
            <a:spLocks noGrp="1"/>
          </p:cNvSpPr>
          <p:nvPr/>
        </p:nvSpPr>
        <p:spPr bwMode="auto">
          <a:xfrm>
            <a:off x="619125" y="152400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59B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9BFFF"/>
                </a:solidFill>
                <a:latin typeface="Arial"/>
                <a:ea typeface="Arial"/>
                <a:cs typeface="Arial"/>
              </a:rPr>
              <a:t>Aula 3</a:t>
            </a:r>
            <a:endParaRPr/>
          </a:p>
        </p:txBody>
      </p:sp>
      <p:sp>
        <p:nvSpPr>
          <p:cNvPr id="557673609" name=""/>
          <p:cNvSpPr>
            <a:spLocks noGrp="1"/>
          </p:cNvSpPr>
          <p:nvPr/>
        </p:nvSpPr>
        <p:spPr bwMode="auto">
          <a:xfrm>
            <a:off x="619125" y="2333625"/>
            <a:ext cx="1085850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Skills e MCP</a:t>
            </a:r>
            <a:endParaRPr/>
          </a:p>
        </p:txBody>
      </p:sp>
      <p:sp>
        <p:nvSpPr>
          <p:cNvPr id="1903853466" name=""/>
          <p:cNvSpPr>
            <a:spLocks noGrp="1"/>
          </p:cNvSpPr>
          <p:nvPr/>
        </p:nvSpPr>
        <p:spPr bwMode="auto">
          <a:xfrm>
            <a:off x="647700" y="4476750"/>
            <a:ext cx="10287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pPr>
            <a:r>
              <a:rPr sz="2350" b="0">
                <a:solidFill>
                  <a:srgbClr val="D7F0FF"/>
                </a:solidFill>
                <a:latin typeface="Arial"/>
                <a:ea typeface="Arial"/>
                <a:cs typeface="Arial"/>
              </a:rPr>
              <a:t>Procedimentos reutilizáveis para agentes</a:t>
            </a:r>
            <a:endParaRPr/>
          </a:p>
          <a:p>
            <a:pPr algn="l">
              <a:buNone/>
              <a:defRPr sz="2350" b="0">
                <a:solidFill>
                  <a:srgbClr val="D7F0FF"/>
                </a:solidFill>
                <a:latin typeface="Arial"/>
                <a:ea typeface="Arial"/>
                <a:cs typeface="Arial"/>
              </a:defRPr>
            </a:pPr>
            <a:r>
              <a:rPr sz="2350" b="0">
                <a:solidFill>
                  <a:srgbClr val="D7F0FF"/>
                </a:solidFill>
                <a:latin typeface="Arial"/>
                <a:ea typeface="Arial"/>
                <a:cs typeface="Arial"/>
              </a:rPr>
              <a:t>Aplicações em ciência de dados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787594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02 / 36</a:t>
            </a:r>
            <a:endParaRPr/>
          </a:p>
        </p:txBody>
      </p:sp>
      <p:sp>
        <p:nvSpPr>
          <p:cNvPr id="1029546598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Recapitulando: o projeto com IA</a:t>
            </a:r>
            <a:endParaRPr/>
          </a:p>
        </p:txBody>
      </p:sp>
      <p:sp>
        <p:nvSpPr>
          <p:cNvPr id="1164803098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Na aula 2, organizamos o trabalho em pequenas partes e validamos cada entrega.</a:t>
            </a:r>
            <a:endParaRPr/>
          </a:p>
        </p:txBody>
      </p:sp>
      <p:sp>
        <p:nvSpPr>
          <p:cNvPr id="299500563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297422645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Documentos do projeto</a:t>
            </a:r>
            <a:endParaRPr/>
          </a:p>
        </p:txBody>
      </p:sp>
      <p:sp>
        <p:nvSpPr>
          <p:cNvPr id="1714635209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PRD.md: problema, público e requisitos.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SPEC.md: comportamento esperado e critérios de aceitação.</a:t>
            </a:r>
            <a:endParaRPr/>
          </a:p>
        </p:txBody>
      </p:sp>
      <p:sp>
        <p:nvSpPr>
          <p:cNvPr id="732780606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Regras e execução</a:t>
            </a:r>
            <a:endParaRPr/>
          </a:p>
        </p:txBody>
      </p:sp>
      <p:sp>
        <p:nvSpPr>
          <p:cNvPr id="1847311258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AGENTS.md e CLAUDE.md: orientações para o agente.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Implementação, testes, revisão e PR no GitHub.</a:t>
            </a:r>
            <a:endParaRPr/>
          </a:p>
        </p:txBody>
      </p:sp>
      <p:sp>
        <p:nvSpPr>
          <p:cNvPr id="713844093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Nesta aula, procedimentos que se repetem passam a ser candidatos a uma skill.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47400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03 / 36</a:t>
            </a:r>
            <a:endParaRPr/>
          </a:p>
        </p:txBody>
      </p:sp>
      <p:sp>
        <p:nvSpPr>
          <p:cNvPr id="2044465366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que acrescentamos ao agente</a:t>
            </a:r>
            <a:endParaRPr/>
          </a:p>
        </p:txBody>
      </p:sp>
      <p:sp>
        <p:nvSpPr>
          <p:cNvPr id="1872846512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 agente recebe um objetivo, escolhe ações, usa ferramentas e avalia o resultado.</a:t>
            </a:r>
            <a:endParaRPr/>
          </a:p>
        </p:txBody>
      </p:sp>
      <p:sp>
        <p:nvSpPr>
          <p:cNvPr id="1944238105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599297974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Uma tarefa isolada</a:t>
            </a:r>
            <a:endParaRPr/>
          </a:p>
        </p:txBody>
      </p:sp>
      <p:sp>
        <p:nvSpPr>
          <p:cNvPr id="210266531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Você explica no pedido o que deseja e fornece o contexto necessário.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agente monta o caminho para aquela tarefa.</a:t>
            </a:r>
            <a:endParaRPr/>
          </a:p>
        </p:txBody>
      </p:sp>
      <p:sp>
        <p:nvSpPr>
          <p:cNvPr id="352024983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Um procedimento recorrente</a:t>
            </a:r>
            <a:endParaRPr/>
          </a:p>
        </p:txBody>
      </p:sp>
      <p:sp>
        <p:nvSpPr>
          <p:cNvPr id="665454673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skill registra como executar um tipo de trabalho.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agente pode reutilizá-la em novos pedidos semelhantes.</a:t>
            </a:r>
            <a:endParaRPr/>
          </a:p>
        </p:txBody>
      </p:sp>
      <p:sp>
        <p:nvSpPr>
          <p:cNvPr id="806717411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 responsabilidade de conferir o resultado continua com quem usa o agente.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752647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04 / 36</a:t>
            </a:r>
            <a:endParaRPr/>
          </a:p>
        </p:txBody>
      </p:sp>
      <p:sp>
        <p:nvSpPr>
          <p:cNvPr id="270615782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que é uma skill</a:t>
            </a:r>
            <a:endParaRPr/>
          </a:p>
        </p:txBody>
      </p:sp>
      <p:sp>
        <p:nvSpPr>
          <p:cNvPr id="1892184108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É uma pasta que reúne instruções reutilizáveis para uma tarefa específica.</a:t>
            </a:r>
            <a:endParaRPr/>
          </a:p>
        </p:txBody>
      </p:sp>
      <p:sp>
        <p:nvSpPr>
          <p:cNvPr id="12119168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224555276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arquivo principal</a:t>
            </a:r>
            <a:endParaRPr/>
          </a:p>
        </p:txBody>
      </p:sp>
      <p:sp>
        <p:nvSpPr>
          <p:cNvPr id="1335128965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SKILL.md descreve quando usar a skill e como executar o trabalho.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Pode orientar decisões e definir o resultado esperado.</a:t>
            </a:r>
            <a:endParaRPr/>
          </a:p>
        </p:txBody>
      </p:sp>
      <p:sp>
        <p:nvSpPr>
          <p:cNvPr id="1313245912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Recursos opcionais</a:t>
            </a:r>
            <a:endParaRPr/>
          </a:p>
        </p:txBody>
      </p:sp>
      <p:sp>
        <p:nvSpPr>
          <p:cNvPr id="603191215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pasta pode conter scripts, referências e modelos de saída.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Exemplo: preparar um relatório conforme as regras e o formato definidos pela equipe.</a:t>
            </a:r>
            <a:endParaRPr/>
          </a:p>
        </p:txBody>
      </p:sp>
      <p:sp>
        <p:nvSpPr>
          <p:cNvPr id="313927650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Uma skill fornece contexto e procedimento ao modelo. Seus pesos não são retreinados.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455085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05 / 36</a:t>
            </a:r>
            <a:endParaRPr/>
          </a:p>
        </p:txBody>
      </p:sp>
      <p:sp>
        <p:nvSpPr>
          <p:cNvPr id="828415038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Prompt, instruções do projeto e skill</a:t>
            </a:r>
            <a:endParaRPr/>
          </a:p>
        </p:txBody>
      </p:sp>
      <p:sp>
        <p:nvSpPr>
          <p:cNvPr id="2024757112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Cada recurso organiza um nível diferente do trabalho.</a:t>
            </a:r>
            <a:endParaRPr/>
          </a:p>
        </p:txBody>
      </p:sp>
      <p:graphicFrame>
        <p:nvGraphicFramePr>
          <p:cNvPr id="1051627088" name=""/>
          <p:cNvGraphicFramePr>
            <a:graphicFrameLocks xmlns:a="http://schemas.openxmlformats.org/drawingml/2006/main"/>
          </p:cNvGraphicFramePr>
          <p:nvPr/>
        </p:nvGraphicFramePr>
        <p:xfrm rot="0">
          <a:off x="523875" y="2809875"/>
          <a:ext cx="11144250" cy="295275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0"/>
                <a:gridCol w="4381500"/>
                <a:gridCol w="3905250"/>
              </a:tblGrid>
              <a:tr h="73818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Recurso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002D6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registra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002D6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Quando usar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002D60"/>
                    </a:solidFill>
                  </a:tcPr>
                </a:tc>
              </a:tr>
              <a:tr h="73818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Prompt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Pedido e contexto daquela tarefa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Uma solicitação específica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</a:tr>
              <a:tr h="73818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AGENTS.md / CLAUDE.md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3FA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Regras gerais do repositório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3FA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Orientar o trabalho no projeto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3FAFF"/>
                    </a:solidFill>
                  </a:tcPr>
                </a:tc>
              </a:tr>
              <a:tr h="73818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Skill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Procedimento de uma tarefa recorrente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Reutilizar um modo de trabalhar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335598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06 / 36</a:t>
            </a:r>
            <a:endParaRPr/>
          </a:p>
        </p:txBody>
      </p:sp>
      <p:sp>
        <p:nvSpPr>
          <p:cNvPr id="1239347986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Os arquivos de uma skill</a:t>
            </a:r>
            <a:endParaRPr/>
          </a:p>
        </p:txBody>
      </p:sp>
      <p:sp>
        <p:nvSpPr>
          <p:cNvPr id="2119850323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SKILL.md é obrigatório. As outras pastas entram apenas quando têm utilidade.</a:t>
            </a:r>
            <a:endParaRPr/>
          </a:p>
        </p:txBody>
      </p:sp>
      <p:sp>
        <p:nvSpPr>
          <p:cNvPr id="2051635270" name=""/>
          <p:cNvSpPr>
            <a:spLocks noGrp="1"/>
          </p:cNvSpPr>
          <p:nvPr/>
        </p:nvSpPr>
        <p:spPr bwMode="auto">
          <a:xfrm>
            <a:off x="523875" y="278130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SKILL.md</a:t>
            </a:r>
            <a:endParaRPr/>
          </a:p>
        </p:txBody>
      </p:sp>
      <p:sp>
        <p:nvSpPr>
          <p:cNvPr id="877664026" name=""/>
          <p:cNvSpPr>
            <a:spLocks noGrp="1"/>
          </p:cNvSpPr>
          <p:nvPr/>
        </p:nvSpPr>
        <p:spPr bwMode="auto">
          <a:xfrm>
            <a:off x="3857625" y="27813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Metadados de identificação e instruções do procedimento.</a:t>
            </a:r>
            <a:endParaRPr/>
          </a:p>
        </p:txBody>
      </p:sp>
      <p:sp>
        <p:nvSpPr>
          <p:cNvPr id="498394907" name=""/>
          <p:cNvSpPr>
            <a:spLocks noGrp="1"/>
          </p:cNvSpPr>
          <p:nvPr/>
        </p:nvSpPr>
        <p:spPr bwMode="auto">
          <a:xfrm>
            <a:off x="523875" y="3400425"/>
            <a:ext cx="10953750" cy="9525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907728573" name=""/>
          <p:cNvSpPr>
            <a:spLocks noGrp="1"/>
          </p:cNvSpPr>
          <p:nvPr/>
        </p:nvSpPr>
        <p:spPr bwMode="auto">
          <a:xfrm>
            <a:off x="523875" y="356235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scripts/</a:t>
            </a:r>
            <a:endParaRPr/>
          </a:p>
        </p:txBody>
      </p:sp>
      <p:sp>
        <p:nvSpPr>
          <p:cNvPr id="396604667" name=""/>
          <p:cNvSpPr>
            <a:spLocks noGrp="1"/>
          </p:cNvSpPr>
          <p:nvPr/>
        </p:nvSpPr>
        <p:spPr bwMode="auto">
          <a:xfrm>
            <a:off x="3857625" y="356235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Código para operações repetidas ou cálculos determinísticos.</a:t>
            </a:r>
            <a:endParaRPr/>
          </a:p>
        </p:txBody>
      </p:sp>
      <p:sp>
        <p:nvSpPr>
          <p:cNvPr id="1019727201" name=""/>
          <p:cNvSpPr>
            <a:spLocks noGrp="1"/>
          </p:cNvSpPr>
          <p:nvPr/>
        </p:nvSpPr>
        <p:spPr bwMode="auto">
          <a:xfrm>
            <a:off x="523875" y="4181475"/>
            <a:ext cx="10953750" cy="9525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235333610" name=""/>
          <p:cNvSpPr>
            <a:spLocks noGrp="1"/>
          </p:cNvSpPr>
          <p:nvPr/>
        </p:nvSpPr>
        <p:spPr bwMode="auto">
          <a:xfrm>
            <a:off x="523875" y="434340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references/</a:t>
            </a:r>
            <a:endParaRPr/>
          </a:p>
        </p:txBody>
      </p:sp>
      <p:sp>
        <p:nvSpPr>
          <p:cNvPr id="2035851865" name=""/>
          <p:cNvSpPr>
            <a:spLocks noGrp="1"/>
          </p:cNvSpPr>
          <p:nvPr/>
        </p:nvSpPr>
        <p:spPr bwMode="auto">
          <a:xfrm>
            <a:off x="3857625" y="43434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Regras, esquemas e documentação consultados conforme a tarefa.</a:t>
            </a:r>
            <a:endParaRPr/>
          </a:p>
        </p:txBody>
      </p:sp>
      <p:sp>
        <p:nvSpPr>
          <p:cNvPr id="716966013" name=""/>
          <p:cNvSpPr>
            <a:spLocks noGrp="1"/>
          </p:cNvSpPr>
          <p:nvPr/>
        </p:nvSpPr>
        <p:spPr bwMode="auto">
          <a:xfrm>
            <a:off x="523875" y="4962525"/>
            <a:ext cx="10953750" cy="9525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1541484085" name=""/>
          <p:cNvSpPr>
            <a:spLocks noGrp="1"/>
          </p:cNvSpPr>
          <p:nvPr/>
        </p:nvSpPr>
        <p:spPr bwMode="auto">
          <a:xfrm>
            <a:off x="523875" y="512445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assets/</a:t>
            </a:r>
            <a:endParaRPr/>
          </a:p>
        </p:txBody>
      </p:sp>
      <p:sp>
        <p:nvSpPr>
          <p:cNvPr id="300619136" name=""/>
          <p:cNvSpPr>
            <a:spLocks noGrp="1"/>
          </p:cNvSpPr>
          <p:nvPr/>
        </p:nvSpPr>
        <p:spPr bwMode="auto">
          <a:xfrm>
            <a:off x="3857625" y="512445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Arquivos usados na entrega, como um modelo de relatório.</a:t>
            </a:r>
            <a:endParaRPr/>
          </a:p>
        </p:txBody>
      </p:sp>
      <p:sp>
        <p:nvSpPr>
          <p:cNvPr id="2000934689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Uma skill simples pode ter somente o arquivo SKILL.md.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593461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07 / 36</a:t>
            </a:r>
            <a:endParaRPr/>
          </a:p>
        </p:txBody>
      </p:sp>
      <p:sp>
        <p:nvSpPr>
          <p:cNvPr id="1462915001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Como uma skill entra no contexto</a:t>
            </a:r>
            <a:endParaRPr/>
          </a:p>
        </p:txBody>
      </p:sp>
      <p:sp>
        <p:nvSpPr>
          <p:cNvPr id="345524994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agente carrega o conteúdo conforme a necessidade da tarefa.</a:t>
            </a:r>
            <a:endParaRPr/>
          </a:p>
        </p:txBody>
      </p:sp>
      <p:sp>
        <p:nvSpPr>
          <p:cNvPr id="1074453461" name=""/>
          <p:cNvSpPr>
            <a:spLocks noGrp="1"/>
          </p:cNvSpPr>
          <p:nvPr/>
        </p:nvSpPr>
        <p:spPr bwMode="auto">
          <a:xfrm>
            <a:off x="523875" y="3000375"/>
            <a:ext cx="3333750" cy="2047875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847630505" name=""/>
          <p:cNvSpPr>
            <a:spLocks noGrp="1"/>
          </p:cNvSpPr>
          <p:nvPr/>
        </p:nvSpPr>
        <p:spPr bwMode="auto">
          <a:xfrm>
            <a:off x="714375" y="320992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1. Descoberta</a:t>
            </a:r>
            <a:endParaRPr/>
          </a:p>
        </p:txBody>
      </p:sp>
      <p:sp>
        <p:nvSpPr>
          <p:cNvPr id="1560060352" name=""/>
          <p:cNvSpPr>
            <a:spLocks noGrp="1"/>
          </p:cNvSpPr>
          <p:nvPr/>
        </p:nvSpPr>
        <p:spPr bwMode="auto">
          <a:xfrm>
            <a:off x="714375" y="38766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Lê nome e descrição das skills disponíveis.</a:t>
            </a:r>
            <a:endParaRPr/>
          </a:p>
        </p:txBody>
      </p:sp>
      <p:sp>
        <p:nvSpPr>
          <p:cNvPr id="1907326259" name=""/>
          <p:cNvSpPr>
            <a:spLocks noGrp="1"/>
          </p:cNvSpPr>
          <p:nvPr/>
        </p:nvSpPr>
        <p:spPr bwMode="auto">
          <a:xfrm>
            <a:off x="3943350" y="3819525"/>
            <a:ext cx="333375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2022829566" name=""/>
          <p:cNvSpPr>
            <a:spLocks noGrp="1"/>
          </p:cNvSpPr>
          <p:nvPr/>
        </p:nvSpPr>
        <p:spPr bwMode="auto">
          <a:xfrm>
            <a:off x="4362450" y="3000375"/>
            <a:ext cx="3333750" cy="2047875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2036197517" name=""/>
          <p:cNvSpPr>
            <a:spLocks noGrp="1"/>
          </p:cNvSpPr>
          <p:nvPr/>
        </p:nvSpPr>
        <p:spPr bwMode="auto">
          <a:xfrm>
            <a:off x="4552950" y="320992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2. Ativação</a:t>
            </a:r>
            <a:endParaRPr/>
          </a:p>
        </p:txBody>
      </p:sp>
      <p:sp>
        <p:nvSpPr>
          <p:cNvPr id="1273515457" name=""/>
          <p:cNvSpPr>
            <a:spLocks noGrp="1"/>
          </p:cNvSpPr>
          <p:nvPr/>
        </p:nvSpPr>
        <p:spPr bwMode="auto">
          <a:xfrm>
            <a:off x="4552950" y="38766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Seleciona uma skill e lê seu SKILL.md.</a:t>
            </a:r>
            <a:endParaRPr/>
          </a:p>
        </p:txBody>
      </p:sp>
      <p:sp>
        <p:nvSpPr>
          <p:cNvPr id="1910454942" name=""/>
          <p:cNvSpPr>
            <a:spLocks noGrp="1"/>
          </p:cNvSpPr>
          <p:nvPr/>
        </p:nvSpPr>
        <p:spPr bwMode="auto">
          <a:xfrm>
            <a:off x="7781925" y="3819525"/>
            <a:ext cx="333375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33861649" name=""/>
          <p:cNvSpPr>
            <a:spLocks noGrp="1"/>
          </p:cNvSpPr>
          <p:nvPr/>
        </p:nvSpPr>
        <p:spPr bwMode="auto">
          <a:xfrm>
            <a:off x="8201025" y="3000375"/>
            <a:ext cx="3333750" cy="2047875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641897530" name=""/>
          <p:cNvSpPr>
            <a:spLocks noGrp="1"/>
          </p:cNvSpPr>
          <p:nvPr/>
        </p:nvSpPr>
        <p:spPr bwMode="auto">
          <a:xfrm>
            <a:off x="8391525" y="320992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3. Execução</a:t>
            </a:r>
            <a:endParaRPr/>
          </a:p>
        </p:txBody>
      </p:sp>
      <p:sp>
        <p:nvSpPr>
          <p:cNvPr id="1181147146" name=""/>
          <p:cNvSpPr>
            <a:spLocks noGrp="1"/>
          </p:cNvSpPr>
          <p:nvPr/>
        </p:nvSpPr>
        <p:spPr bwMode="auto">
          <a:xfrm>
            <a:off x="8391525" y="38766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Segue as instruções e usa recursos necessários.</a:t>
            </a:r>
            <a:endParaRPr/>
          </a:p>
        </p:txBody>
      </p:sp>
      <p:sp>
        <p:nvSpPr>
          <p:cNvPr id="1874866301" name=""/>
          <p:cNvSpPr>
            <a:spLocks noGrp="1"/>
          </p:cNvSpPr>
          <p:nvPr/>
        </p:nvSpPr>
        <p:spPr bwMode="auto">
          <a:xfrm>
            <a:off x="523875" y="5572125"/>
            <a:ext cx="11144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pedido também pode citar uma skill explicitamente. A forma de invocação depende da ferramenta.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637899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08 / 36</a:t>
            </a:r>
            <a:endParaRPr/>
          </a:p>
        </p:txBody>
      </p:sp>
      <p:sp>
        <p:nvSpPr>
          <p:cNvPr id="1057616657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skills.sh: site recomendado para buscar skills</a:t>
            </a:r>
            <a:endParaRPr/>
          </a:p>
        </p:txBody>
      </p:sp>
      <p:sp>
        <p:nvSpPr>
          <p:cNvPr id="713709541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https://www.skills.sh/</a:t>
            </a:r>
            <a:endParaRPr/>
          </a:p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Recomendação para pesquisar e comparar skills antes de criar uma do zero.</a:t>
            </a:r>
            <a:endParaRPr/>
          </a:p>
        </p:txBody>
      </p:sp>
      <p:sp>
        <p:nvSpPr>
          <p:cNvPr id="107341808" name=""/>
          <p:cNvSpPr>
            <a:spLocks noGrp="1"/>
          </p:cNvSpPr>
          <p:nvPr/>
        </p:nvSpPr>
        <p:spPr bwMode="auto">
          <a:xfrm>
            <a:off x="523875" y="278130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Buscar por tarefa</a:t>
            </a:r>
            <a:endParaRPr/>
          </a:p>
        </p:txBody>
      </p:sp>
      <p:sp>
        <p:nvSpPr>
          <p:cNvPr id="859655194" name=""/>
          <p:cNvSpPr>
            <a:spLocks noGrp="1"/>
          </p:cNvSpPr>
          <p:nvPr/>
        </p:nvSpPr>
        <p:spPr bwMode="auto">
          <a:xfrm>
            <a:off x="3857625" y="27813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Pesquise por necessidade e explore os tópicos, o ranking e as tendências do catálogo.</a:t>
            </a:r>
            <a:endParaRPr/>
          </a:p>
        </p:txBody>
      </p:sp>
      <p:sp>
        <p:nvSpPr>
          <p:cNvPr id="1683441212" name=""/>
          <p:cNvSpPr>
            <a:spLocks noGrp="1"/>
          </p:cNvSpPr>
          <p:nvPr/>
        </p:nvSpPr>
        <p:spPr bwMode="auto">
          <a:xfrm>
            <a:off x="523875" y="3629025"/>
            <a:ext cx="10953750" cy="9525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1124667783" name=""/>
          <p:cNvSpPr>
            <a:spLocks noGrp="1"/>
          </p:cNvSpPr>
          <p:nvPr/>
        </p:nvSpPr>
        <p:spPr bwMode="auto">
          <a:xfrm>
            <a:off x="523875" y="3790949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Examinar uma skill</a:t>
            </a:r>
            <a:endParaRPr/>
          </a:p>
        </p:txBody>
      </p:sp>
      <p:sp>
        <p:nvSpPr>
          <p:cNvPr id="2145435637" name=""/>
          <p:cNvSpPr>
            <a:spLocks noGrp="1"/>
          </p:cNvSpPr>
          <p:nvPr/>
        </p:nvSpPr>
        <p:spPr bwMode="auto">
          <a:xfrm>
            <a:off x="3857625" y="3790949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Abra a página para ler o resumo, consultar o SKILL.md e acessar o repositório de origem.</a:t>
            </a:r>
            <a:endParaRPr/>
          </a:p>
        </p:txBody>
      </p:sp>
      <p:sp>
        <p:nvSpPr>
          <p:cNvPr id="1421791836" name=""/>
          <p:cNvSpPr>
            <a:spLocks noGrp="1"/>
          </p:cNvSpPr>
          <p:nvPr/>
        </p:nvSpPr>
        <p:spPr bwMode="auto">
          <a:xfrm>
            <a:off x="523875" y="4638675"/>
            <a:ext cx="10953750" cy="9525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512404658" name=""/>
          <p:cNvSpPr>
            <a:spLocks noGrp="1"/>
          </p:cNvSpPr>
          <p:nvPr/>
        </p:nvSpPr>
        <p:spPr bwMode="auto">
          <a:xfrm>
            <a:off x="523875" y="480060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Escolher o que ajuda</a:t>
            </a:r>
            <a:endParaRPr/>
          </a:p>
        </p:txBody>
      </p:sp>
      <p:sp>
        <p:nvSpPr>
          <p:cNvPr id="856750013" name=""/>
          <p:cNvSpPr>
            <a:spLocks noGrp="1"/>
          </p:cNvSpPr>
          <p:nvPr/>
        </p:nvSpPr>
        <p:spPr bwMode="auto">
          <a:xfrm>
            <a:off x="3857625" y="48006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Compare a tarefa da skill com seu projeto. A página apresenta também o comando de instalação.</a:t>
            </a:r>
            <a:endParaRPr/>
          </a:p>
        </p:txBody>
      </p:sp>
      <p:sp>
        <p:nvSpPr>
          <p:cNvPr id="1555565182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Use o catálogo como ponto de partida. Confira o conteúdo, as dependências e a licença da skill.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511274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09 / 36</a:t>
            </a:r>
            <a:endParaRPr/>
          </a:p>
        </p:txBody>
      </p:sp>
      <p:sp>
        <p:nvSpPr>
          <p:cNvPr id="181586687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Skills do skills.sh: seleção para a aula</a:t>
            </a:r>
            <a:endParaRPr/>
          </a:p>
        </p:txBody>
      </p:sp>
      <p:sp>
        <p:nvSpPr>
          <p:cNvPr id="500261491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Exemplos disponíveis no catálogo para descobrir recursos e trabalhar com interfaces.</a:t>
            </a:r>
            <a:endParaRPr/>
          </a:p>
        </p:txBody>
      </p:sp>
      <p:sp>
        <p:nvSpPr>
          <p:cNvPr id="1517533273" name=""/>
          <p:cNvSpPr>
            <a:spLocks noGrp="1"/>
          </p:cNvSpPr>
          <p:nvPr/>
        </p:nvSpPr>
        <p:spPr bwMode="auto">
          <a:xfrm>
            <a:off x="523875" y="278130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Descoberta e navegação</a:t>
            </a:r>
            <a:endParaRPr/>
          </a:p>
        </p:txBody>
      </p:sp>
      <p:sp>
        <p:nvSpPr>
          <p:cNvPr id="852309187" name=""/>
          <p:cNvSpPr>
            <a:spLocks noGrp="1"/>
          </p:cNvSpPr>
          <p:nvPr/>
        </p:nvSpPr>
        <p:spPr bwMode="auto">
          <a:xfrm>
            <a:off x="3857625" y="27813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find-skills e agent-browser.</a:t>
            </a:r>
            <a:endParaRPr/>
          </a:p>
        </p:txBody>
      </p:sp>
      <p:sp>
        <p:nvSpPr>
          <p:cNvPr id="1864664399" name=""/>
          <p:cNvSpPr>
            <a:spLocks noGrp="1"/>
          </p:cNvSpPr>
          <p:nvPr/>
        </p:nvSpPr>
        <p:spPr bwMode="auto">
          <a:xfrm>
            <a:off x="523875" y="3629025"/>
            <a:ext cx="10953750" cy="9525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797169763" name=""/>
          <p:cNvSpPr>
            <a:spLocks noGrp="1"/>
          </p:cNvSpPr>
          <p:nvPr/>
        </p:nvSpPr>
        <p:spPr bwMode="auto">
          <a:xfrm>
            <a:off x="523875" y="3790949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Construção de interfaces</a:t>
            </a:r>
            <a:endParaRPr/>
          </a:p>
        </p:txBody>
      </p:sp>
      <p:sp>
        <p:nvSpPr>
          <p:cNvPr id="861581036" name=""/>
          <p:cNvSpPr>
            <a:spLocks noGrp="1"/>
          </p:cNvSpPr>
          <p:nvPr/>
        </p:nvSpPr>
        <p:spPr bwMode="auto">
          <a:xfrm>
            <a:off x="3857625" y="3790949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frontend-design e vercel-react-best-practices.</a:t>
            </a:r>
            <a:endParaRPr/>
          </a:p>
        </p:txBody>
      </p:sp>
      <p:sp>
        <p:nvSpPr>
          <p:cNvPr id="1430529131" name=""/>
          <p:cNvSpPr>
            <a:spLocks noGrp="1"/>
          </p:cNvSpPr>
          <p:nvPr/>
        </p:nvSpPr>
        <p:spPr bwMode="auto">
          <a:xfrm>
            <a:off x="523875" y="4638675"/>
            <a:ext cx="10953750" cy="9525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1161830982" name=""/>
          <p:cNvSpPr>
            <a:spLocks noGrp="1"/>
          </p:cNvSpPr>
          <p:nvPr/>
        </p:nvSpPr>
        <p:spPr bwMode="auto">
          <a:xfrm>
            <a:off x="523875" y="480060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Revisão de interfaces</a:t>
            </a:r>
            <a:endParaRPr/>
          </a:p>
        </p:txBody>
      </p:sp>
      <p:sp>
        <p:nvSpPr>
          <p:cNvPr id="1848602562" name=""/>
          <p:cNvSpPr>
            <a:spLocks noGrp="1"/>
          </p:cNvSpPr>
          <p:nvPr/>
        </p:nvSpPr>
        <p:spPr bwMode="auto">
          <a:xfrm>
            <a:off x="3857625" y="48006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web-design-guidelines.</a:t>
            </a:r>
            <a:endParaRPr/>
          </a:p>
        </p:txBody>
      </p:sp>
      <p:sp>
        <p:nvSpPr>
          <p:cNvPr id="1417773121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Catálogo consultado em 25/10/2026. Escolha pela utilidade para o projeto, além da popularidade.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725452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10 / 36</a:t>
            </a:r>
            <a:endParaRPr/>
          </a:p>
        </p:txBody>
      </p:sp>
      <p:sp>
        <p:nvSpPr>
          <p:cNvPr id="197875561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find-skills: descobrir procedimentos prontos</a:t>
            </a:r>
            <a:endParaRPr/>
          </a:p>
        </p:txBody>
      </p:sp>
      <p:sp>
        <p:nvSpPr>
          <p:cNvPr id="1087791895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Autor: vercel-labs. Ajuda a localizar skills para uma necessidade.</a:t>
            </a:r>
            <a:endParaRPr/>
          </a:p>
        </p:txBody>
      </p:sp>
      <p:sp>
        <p:nvSpPr>
          <p:cNvPr id="1801889463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263421247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</a:t>
            </a:r>
            <a:endParaRPr/>
          </a:p>
        </p:txBody>
      </p:sp>
      <p:sp>
        <p:nvSpPr>
          <p:cNvPr id="1307223212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Relaciona a tarefa com termos de busca e apresenta opções de skills.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Ajuda a encontrar a origem e a forma de instalação.</a:t>
            </a:r>
            <a:endParaRPr/>
          </a:p>
        </p:txBody>
      </p:sp>
      <p:sp>
        <p:nvSpPr>
          <p:cNvPr id="479585948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Uso na aula</a:t>
            </a:r>
            <a:endParaRPr/>
          </a:p>
        </p:txBody>
      </p:sp>
      <p:sp>
        <p:nvSpPr>
          <p:cNvPr id="1368175241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Pedido: “Encontre uma skill para revisar a acessibilidade do meu dashboard.”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Confira o código da opção encontrada antes de instalar.</a:t>
            </a:r>
            <a:endParaRPr/>
          </a:p>
        </p:txBody>
      </p:sp>
      <p:sp>
        <p:nvSpPr>
          <p:cNvPr id="912652923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Resultado esperado: uma seleção justificada de opções para a tarefa.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57948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11 / 36</a:t>
            </a:r>
            <a:endParaRPr/>
          </a:p>
        </p:txBody>
      </p:sp>
      <p:sp>
        <p:nvSpPr>
          <p:cNvPr id="1583596362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agent-browser: interagir com o navegador</a:t>
            </a:r>
            <a:endParaRPr/>
          </a:p>
        </p:txBody>
      </p:sp>
      <p:sp>
        <p:nvSpPr>
          <p:cNvPr id="1502660949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Autor: vercel-labs. A skill orienta o uso da ferramenta agent-browser.</a:t>
            </a:r>
            <a:endParaRPr/>
          </a:p>
        </p:txBody>
      </p:sp>
      <p:sp>
        <p:nvSpPr>
          <p:cNvPr id="634832425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697523066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</a:t>
            </a:r>
            <a:endParaRPr/>
          </a:p>
        </p:txBody>
      </p:sp>
      <p:sp>
        <p:nvSpPr>
          <p:cNvPr id="884887217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Navega por páginas, interage com elementos e captura evidências.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execução depende da CLI e de um navegador compatível.</a:t>
            </a:r>
            <a:endParaRPr/>
          </a:p>
        </p:txBody>
      </p:sp>
      <p:sp>
        <p:nvSpPr>
          <p:cNvPr id="2050392353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Uso na aula</a:t>
            </a:r>
            <a:endParaRPr/>
          </a:p>
        </p:txBody>
      </p:sp>
      <p:sp>
        <p:nvSpPr>
          <p:cNvPr id="1904484238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Pedido: “Abra o dashboard local, altere o filtro de mês e confira o total.”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passos executados, resultado observado e captura da tela.</a:t>
            </a:r>
            <a:endParaRPr/>
          </a:p>
        </p:txBody>
      </p:sp>
      <p:sp>
        <p:nvSpPr>
          <p:cNvPr id="442761789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 skill descreve o procedimento. O programa de automação executa as ações.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260801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12 / 36</a:t>
            </a:r>
            <a:endParaRPr/>
          </a:p>
        </p:txBody>
      </p:sp>
      <p:sp>
        <p:nvSpPr>
          <p:cNvPr id="1827098396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frontend-design: construir a interface</a:t>
            </a:r>
            <a:endParaRPr/>
          </a:p>
        </p:txBody>
      </p:sp>
      <p:sp>
        <p:nvSpPr>
          <p:cNvPr id="124139018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Autor: Anthropic. Orienta decisões visuais ao criar ou reformular uma interface.</a:t>
            </a:r>
            <a:endParaRPr/>
          </a:p>
        </p:txBody>
      </p:sp>
      <p:sp>
        <p:nvSpPr>
          <p:cNvPr id="1915128750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1951058973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</a:t>
            </a:r>
            <a:endParaRPr/>
          </a:p>
        </p:txBody>
      </p:sp>
      <p:sp>
        <p:nvSpPr>
          <p:cNvPr id="817670890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Ajuda a definir organização, tipografia e cores a partir do público e da finalidade da tela.</a:t>
            </a:r>
            <a:endParaRPr/>
          </a:p>
        </p:txBody>
      </p:sp>
      <p:sp>
        <p:nvSpPr>
          <p:cNvPr id="1681239620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Uso na aula</a:t>
            </a:r>
            <a:endParaRPr/>
          </a:p>
        </p:txBody>
      </p:sp>
      <p:sp>
        <p:nvSpPr>
          <p:cNvPr id="315030153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Pedido: “Organize o dashboard para que o usuário entenda receita, período e filtros.”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Confira o resultado na tela e valide a leitura dos indicadores.</a:t>
            </a:r>
            <a:endParaRPr/>
          </a:p>
        </p:txBody>
      </p:sp>
      <p:sp>
        <p:nvSpPr>
          <p:cNvPr id="1004328752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 qualidade visual da interface e a correção dos cálculos precisam de verificações próprias.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089857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13 / 36</a:t>
            </a:r>
            <a:endParaRPr/>
          </a:p>
        </p:txBody>
      </p:sp>
      <p:sp>
        <p:nvSpPr>
          <p:cNvPr id="1426036425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vercel-react-best-practices: desempenho</a:t>
            </a:r>
            <a:endParaRPr/>
          </a:p>
        </p:txBody>
      </p:sp>
      <p:sp>
        <p:nvSpPr>
          <p:cNvPr id="855239419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Autor: Vercel. Reúne orientações de desempenho para React e Next.js.</a:t>
            </a:r>
            <a:endParaRPr/>
          </a:p>
        </p:txBody>
      </p:sp>
      <p:sp>
        <p:nvSpPr>
          <p:cNvPr id="237236003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1613052912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</a:t>
            </a:r>
            <a:endParaRPr/>
          </a:p>
        </p:txBody>
      </p:sp>
      <p:sp>
        <p:nvSpPr>
          <p:cNvPr id="1624602283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Orienta carregamento de dados, tamanho dos arquivos enviados e renderização.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Aplica regras pertinentes ao código do projeto.</a:t>
            </a:r>
            <a:endParaRPr/>
          </a:p>
        </p:txBody>
      </p:sp>
      <p:sp>
        <p:nvSpPr>
          <p:cNvPr id="1799655030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Uso na aula</a:t>
            </a:r>
            <a:endParaRPr/>
          </a:p>
        </p:txBody>
      </p:sp>
      <p:sp>
        <p:nvSpPr>
          <p:cNvPr id="594346830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Pedido: “Revise o carregamento lento desta página em React e mostre as mudanças propostas.”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Compare as medidas antes e depois.</a:t>
            </a:r>
            <a:endParaRPr/>
          </a:p>
        </p:txBody>
      </p:sp>
      <p:sp>
        <p:nvSpPr>
          <p:cNvPr id="2120663276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Use em projetos React ou Next.js. A implementação de referência importa para a escolha.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633779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14 / 36</a:t>
            </a:r>
            <a:endParaRPr/>
          </a:p>
        </p:txBody>
      </p:sp>
      <p:sp>
        <p:nvSpPr>
          <p:cNvPr id="1673518052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web-design-guidelines: revisar a interface</a:t>
            </a:r>
            <a:endParaRPr/>
          </a:p>
        </p:txBody>
      </p:sp>
      <p:sp>
        <p:nvSpPr>
          <p:cNvPr id="763238944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Autor: Vercel. Confere o código usando as diretrizes de interface referenciadas pela skill.</a:t>
            </a:r>
            <a:endParaRPr/>
          </a:p>
        </p:txBody>
      </p:sp>
      <p:sp>
        <p:nvSpPr>
          <p:cNvPr id="2141268610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73150112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</a:t>
            </a:r>
            <a:endParaRPr/>
          </a:p>
        </p:txBody>
      </p:sp>
      <p:sp>
        <p:nvSpPr>
          <p:cNvPr id="1886541033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Revisa arquivos da interface e aponta problemas com localização no código.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Pode apoiar uma revisão de usabilidade e acessibilidade.</a:t>
            </a:r>
            <a:endParaRPr/>
          </a:p>
        </p:txBody>
      </p:sp>
      <p:sp>
        <p:nvSpPr>
          <p:cNvPr id="1553928422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Uso na aula</a:t>
            </a:r>
            <a:endParaRPr/>
          </a:p>
        </p:txBody>
      </p:sp>
      <p:sp>
        <p:nvSpPr>
          <p:cNvPr id="1922896996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Pedido: “Revise os componentes do dashboard e aponte problemas nos campos e na navegação.”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equipe verifica e prioriza os achados.</a:t>
            </a:r>
            <a:endParaRPr/>
          </a:p>
        </p:txBody>
      </p:sp>
      <p:sp>
        <p:nvSpPr>
          <p:cNvPr id="1810725314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Revisar o código e testar a interface no navegador são verificações complementares.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78030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15 / 36</a:t>
            </a:r>
            <a:endParaRPr/>
          </a:p>
        </p:txBody>
      </p:sp>
      <p:sp>
        <p:nvSpPr>
          <p:cNvPr id="458579231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grill-me: esclarecer uma ideia com perguntas</a:t>
            </a:r>
            <a:endParaRPr/>
          </a:p>
        </p:txBody>
      </p:sp>
      <p:sp>
        <p:nvSpPr>
          <p:cNvPr id="501228218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Autor: Matt Pocock. Exemplo do skills.sh para explorar um plano ou uma decisão.</a:t>
            </a:r>
            <a:endParaRPr/>
          </a:p>
        </p:txBody>
      </p:sp>
      <p:sp>
        <p:nvSpPr>
          <p:cNvPr id="1672331520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1212241423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</a:t>
            </a:r>
            <a:endParaRPr/>
          </a:p>
        </p:txBody>
      </p:sp>
      <p:sp>
        <p:nvSpPr>
          <p:cNvPr id="2051572887" name=""/>
          <p:cNvSpPr>
            <a:spLocks noGrp="1"/>
          </p:cNvSpPr>
          <p:nvPr/>
        </p:nvSpPr>
        <p:spPr bwMode="auto">
          <a:xfrm>
            <a:off x="523875" y="3333750"/>
            <a:ext cx="52197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Conduz uma entrevista para revelar dúvidas, premissas e decisões ainda abertas.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Ajuda a chegar a um entendimento mais claro antes de executar o plano.</a:t>
            </a:r>
            <a:endParaRPr/>
          </a:p>
        </p:txBody>
      </p:sp>
      <p:sp>
        <p:nvSpPr>
          <p:cNvPr id="1983225305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Uso no projeto</a:t>
            </a:r>
            <a:endParaRPr/>
          </a:p>
        </p:txBody>
      </p:sp>
      <p:sp>
        <p:nvSpPr>
          <p:cNvPr id="2018524610" name=""/>
          <p:cNvSpPr>
            <a:spLocks noGrp="1"/>
          </p:cNvSpPr>
          <p:nvPr/>
        </p:nvSpPr>
        <p:spPr bwMode="auto">
          <a:xfrm>
            <a:off x="6334125" y="3333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Pedido: “Questione minha proposta de skill. Ajude a esclarecer a tarefa, as entradas, as regras e os critérios de aceitação.”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Compare o procedimento com o brainstorm da aula.</a:t>
            </a:r>
            <a:endParaRPr/>
          </a:p>
        </p:txBody>
      </p:sp>
      <p:sp>
        <p:nvSpPr>
          <p:cNvPr id="942008408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Página: skills.sh/mattpocock/skills/grill-me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07154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16 / 36</a:t>
            </a:r>
            <a:endParaRPr/>
          </a:p>
        </p:txBody>
      </p:sp>
      <p:sp>
        <p:nvSpPr>
          <p:cNvPr id="684546480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supabase-postgres-best-practices: SQL</a:t>
            </a:r>
            <a:endParaRPr/>
          </a:p>
        </p:txBody>
      </p:sp>
      <p:sp>
        <p:nvSpPr>
          <p:cNvPr id="693488980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Autor: Supabase. Exemplo do skills.sh para projetos que utilizam PostgreSQL.</a:t>
            </a:r>
            <a:endParaRPr/>
          </a:p>
        </p:txBody>
      </p:sp>
      <p:sp>
        <p:nvSpPr>
          <p:cNvPr id="1938651794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78491934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</a:t>
            </a:r>
            <a:endParaRPr/>
          </a:p>
        </p:txBody>
      </p:sp>
      <p:sp>
        <p:nvSpPr>
          <p:cNvPr id="1171042991" name=""/>
          <p:cNvSpPr>
            <a:spLocks noGrp="1"/>
          </p:cNvSpPr>
          <p:nvPr/>
        </p:nvSpPr>
        <p:spPr bwMode="auto">
          <a:xfrm>
            <a:off x="523875" y="3333750"/>
            <a:ext cx="52197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Orienta escrita de SQL, modelagem de tabelas e revisão de consultas.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Também aborda índices, desempenho e controle de acesso no PostgreSQL.</a:t>
            </a:r>
            <a:endParaRPr/>
          </a:p>
        </p:txBody>
      </p:sp>
      <p:sp>
        <p:nvSpPr>
          <p:cNvPr id="556692479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Quando pode ajudar</a:t>
            </a:r>
            <a:endParaRPr/>
          </a:p>
        </p:txBody>
      </p:sp>
      <p:sp>
        <p:nvSpPr>
          <p:cNvPr id="1958678393" name=""/>
          <p:cNvSpPr>
            <a:spLocks noGrp="1"/>
          </p:cNvSpPr>
          <p:nvPr/>
        </p:nvSpPr>
        <p:spPr bwMode="auto">
          <a:xfrm>
            <a:off x="6334125" y="3333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Em projetos que usam PostgreSQL, pode apoiar a revisão de consultas e da estrutura do banco.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Escolha a skill conforme a tecnologia e a necessidade da tarefa.</a:t>
            </a:r>
            <a:endParaRPr/>
          </a:p>
        </p:txBody>
      </p:sp>
      <p:sp>
        <p:nvSpPr>
          <p:cNvPr id="801789699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Página: skills.sh/supabase/agent-skills/supabase-postgres-best-practices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413308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17 / 36</a:t>
            </a:r>
            <a:endParaRPr/>
          </a:p>
        </p:txBody>
      </p:sp>
      <p:sp>
        <p:nvSpPr>
          <p:cNvPr id="1787398774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xlsx: trabalhar com planilhas</a:t>
            </a:r>
            <a:endParaRPr/>
          </a:p>
        </p:txBody>
      </p:sp>
      <p:sp>
        <p:nvSpPr>
          <p:cNvPr id="1088553544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Autor: Anthropic. Uma opção útil para ciência de dados, além da seleção de popularidade.</a:t>
            </a:r>
            <a:endParaRPr/>
          </a:p>
        </p:txBody>
      </p:sp>
      <p:sp>
        <p:nvSpPr>
          <p:cNvPr id="1818512760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240843569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</a:t>
            </a:r>
            <a:endParaRPr/>
          </a:p>
        </p:txBody>
      </p:sp>
      <p:sp>
        <p:nvSpPr>
          <p:cNvPr id="141746892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Cria e edita planilhas, organiza dados e trabalha com fórmulas e formatação.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Pode usar bibliotecas e scripts auxiliares.</a:t>
            </a:r>
            <a:endParaRPr/>
          </a:p>
        </p:txBody>
      </p:sp>
      <p:sp>
        <p:nvSpPr>
          <p:cNvPr id="1486515222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Uso na aula</a:t>
            </a:r>
            <a:endParaRPr/>
          </a:p>
        </p:txBody>
      </p:sp>
      <p:sp>
        <p:nvSpPr>
          <p:cNvPr id="368470871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Pedido: “Monte uma planilha de resumo por mês a partir deste CSV e confira as fórmulas.”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arquivo de planilha e cálculos verificáveis.</a:t>
            </a:r>
            <a:endParaRPr/>
          </a:p>
        </p:txBody>
      </p:sp>
      <p:sp>
        <p:nvSpPr>
          <p:cNvPr id="659658520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Ao adotar uma skill de documentos, confira também os termos de licença.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607348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18 / 36</a:t>
            </a:r>
            <a:endParaRPr/>
          </a:p>
        </p:txBody>
      </p:sp>
      <p:sp>
        <p:nvSpPr>
          <p:cNvPr id="1681707445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pdf: ler e produzir documentos</a:t>
            </a:r>
            <a:endParaRPr/>
          </a:p>
        </p:txBody>
      </p:sp>
      <p:sp>
        <p:nvSpPr>
          <p:cNvPr id="1542329741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Autor: Anthropic. Ajuda em tarefas cujo arquivo de entrada ou de saída é um PDF.</a:t>
            </a:r>
            <a:endParaRPr/>
          </a:p>
        </p:txBody>
      </p:sp>
      <p:sp>
        <p:nvSpPr>
          <p:cNvPr id="1473199009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279628423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</a:t>
            </a:r>
            <a:endParaRPr/>
          </a:p>
        </p:txBody>
      </p:sp>
      <p:sp>
        <p:nvSpPr>
          <p:cNvPr id="1321474016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Extrai conteúdo, reorganiza páginas e cria documentos.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PDFs digitalizados podem exigir OCR, o reconhecimento de texto em imagens.</a:t>
            </a:r>
            <a:endParaRPr/>
          </a:p>
        </p:txBody>
      </p:sp>
      <p:sp>
        <p:nvSpPr>
          <p:cNvPr id="1353653190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Uso na aula</a:t>
            </a:r>
            <a:endParaRPr/>
          </a:p>
        </p:txBody>
      </p:sp>
      <p:sp>
        <p:nvSpPr>
          <p:cNvPr id="1047282261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Pedido: “Extraia a tabela deste relatório, confira os valores e preserve a indicação das páginas.”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Compare a extração com o documento original.</a:t>
            </a:r>
            <a:endParaRPr/>
          </a:p>
        </p:txBody>
      </p:sp>
      <p:sp>
        <p:nvSpPr>
          <p:cNvPr id="705583361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 estrutura visual de um PDF pode dificultar a extração correta de tabelas.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283385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19 / 36</a:t>
            </a:r>
            <a:endParaRPr/>
          </a:p>
        </p:txBody>
      </p:sp>
      <p:sp>
        <p:nvSpPr>
          <p:cNvPr id="1394882486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skill-creator: criar e melhorar skills</a:t>
            </a:r>
            <a:endParaRPr/>
          </a:p>
        </p:txBody>
      </p:sp>
      <p:sp>
        <p:nvSpPr>
          <p:cNvPr id="960560397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Ajuda a transformar um procedimento recorrente em uma skill testável.</a:t>
            </a:r>
            <a:endParaRPr/>
          </a:p>
        </p:txBody>
      </p:sp>
      <p:sp>
        <p:nvSpPr>
          <p:cNvPr id="1223727508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2011925778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</a:t>
            </a:r>
            <a:endParaRPr/>
          </a:p>
        </p:txBody>
      </p:sp>
      <p:sp>
        <p:nvSpPr>
          <p:cNvPr id="950709105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Ajuda a definir escopo, escrever as instruções e revisar o comportamento.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As implementações variam conforme o produto.</a:t>
            </a:r>
            <a:endParaRPr/>
          </a:p>
        </p:txBody>
      </p:sp>
      <p:sp>
        <p:nvSpPr>
          <p:cNvPr id="36031073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Uso na aula</a:t>
            </a:r>
            <a:endParaRPr/>
          </a:p>
        </p:txBody>
      </p:sp>
      <p:sp>
        <p:nvSpPr>
          <p:cNvPr id="900074994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Pedido: “Crie uma skill para [tarefa], com as entradas, regras e saídas que definimos.”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Depois, teste com casos conhecidos e ajuste as instruções.</a:t>
            </a:r>
            <a:endParaRPr/>
          </a:p>
        </p:txBody>
      </p:sp>
      <p:sp>
        <p:nvSpPr>
          <p:cNvPr id="142388967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No Codex, o criador integrado pode ser chamado com $skill-creator.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092649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20 / 36</a:t>
            </a:r>
            <a:endParaRPr/>
          </a:p>
        </p:txBody>
      </p:sp>
      <p:sp>
        <p:nvSpPr>
          <p:cNvPr id="1038565596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que é MCP</a:t>
            </a:r>
            <a:endParaRPr/>
          </a:p>
        </p:txBody>
      </p:sp>
      <p:sp>
        <p:nvSpPr>
          <p:cNvPr id="189085040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MCP significa Model Context Protocol. É um padrão de comunicação entre aplicações de IA e sistemas externos.</a:t>
            </a:r>
            <a:endParaRPr/>
          </a:p>
        </p:txBody>
      </p:sp>
      <p:sp>
        <p:nvSpPr>
          <p:cNvPr id="1669030870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2105830038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conecta</a:t>
            </a:r>
            <a:endParaRPr/>
          </a:p>
        </p:txBody>
      </p:sp>
      <p:sp>
        <p:nvSpPr>
          <p:cNvPr id="2129089919" name=""/>
          <p:cNvSpPr>
            <a:spLocks noGrp="1"/>
          </p:cNvSpPr>
          <p:nvPr/>
        </p:nvSpPr>
        <p:spPr bwMode="auto">
          <a:xfrm>
            <a:off x="523875" y="3381375"/>
            <a:ext cx="52197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Uma aplicação compatível pode acessar informações e ações oferecidas por um servidor MCP.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Exemplos: consultar dados ou ler conteúdo de um serviço.</a:t>
            </a:r>
            <a:endParaRPr/>
          </a:p>
        </p:txBody>
      </p:sp>
      <p:sp>
        <p:nvSpPr>
          <p:cNvPr id="1079667277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Como participa do trabalho</a:t>
            </a:r>
            <a:endParaRPr/>
          </a:p>
        </p:txBody>
      </p:sp>
      <p:sp>
        <p:nvSpPr>
          <p:cNvPr id="29338603" name=""/>
          <p:cNvSpPr>
            <a:spLocks noGrp="1"/>
          </p:cNvSpPr>
          <p:nvPr/>
        </p:nvSpPr>
        <p:spPr bwMode="auto">
          <a:xfrm>
            <a:off x="6334125" y="3381375"/>
            <a:ext cx="523875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servidor informa o que disponibiliza.</a:t>
            </a:r>
            <a:endParaRPr/>
          </a:p>
          <a:p>
            <a:pPr>
              <a:buNone/>
              <a:defRPr/>
            </a:pPr>
            <a:endParaRPr/>
          </a:p>
          <a:p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aplicação organiza as chamadas e apresenta os resultados ao agente.</a:t>
            </a:r>
            <a:endParaRPr/>
          </a:p>
        </p:txBody>
      </p:sp>
      <p:sp>
        <p:nvSpPr>
          <p:cNvPr id="1261989161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MCP define a comunicação. O acesso depende da integração e das permissões concedidas.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948484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21 / 36</a:t>
            </a:r>
            <a:endParaRPr/>
          </a:p>
        </p:txBody>
      </p:sp>
      <p:sp>
        <p:nvSpPr>
          <p:cNvPr id="721932103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MCP em uma consulta de dados</a:t>
            </a:r>
            <a:endParaRPr/>
          </a:p>
        </p:txBody>
      </p:sp>
      <p:sp>
        <p:nvSpPr>
          <p:cNvPr id="598032799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Exemplo didático: obter a receita mensal de uma base autorizada.</a:t>
            </a:r>
            <a:endParaRPr/>
          </a:p>
        </p:txBody>
      </p:sp>
      <p:sp>
        <p:nvSpPr>
          <p:cNvPr id="2098043065" name=""/>
          <p:cNvSpPr>
            <a:spLocks noGrp="1"/>
          </p:cNvSpPr>
          <p:nvPr/>
        </p:nvSpPr>
        <p:spPr bwMode="auto">
          <a:xfrm>
            <a:off x="523875" y="3000375"/>
            <a:ext cx="3333750" cy="2047875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933865656" name=""/>
          <p:cNvSpPr>
            <a:spLocks noGrp="1"/>
          </p:cNvSpPr>
          <p:nvPr/>
        </p:nvSpPr>
        <p:spPr bwMode="auto">
          <a:xfrm>
            <a:off x="714375" y="320992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Aplicação de IA</a:t>
            </a:r>
            <a:endParaRPr/>
          </a:p>
        </p:txBody>
      </p:sp>
      <p:sp>
        <p:nvSpPr>
          <p:cNvPr id="1551440643" name=""/>
          <p:cNvSpPr>
            <a:spLocks noGrp="1"/>
          </p:cNvSpPr>
          <p:nvPr/>
        </p:nvSpPr>
        <p:spPr bwMode="auto">
          <a:xfrm>
            <a:off x="714375" y="38766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Hospeda o agente e mantém um cliente MCP para a conexão.</a:t>
            </a:r>
            <a:endParaRPr/>
          </a:p>
        </p:txBody>
      </p:sp>
      <p:sp>
        <p:nvSpPr>
          <p:cNvPr id="507054673" name=""/>
          <p:cNvSpPr>
            <a:spLocks noGrp="1"/>
          </p:cNvSpPr>
          <p:nvPr/>
        </p:nvSpPr>
        <p:spPr bwMode="auto">
          <a:xfrm>
            <a:off x="3943350" y="3819525"/>
            <a:ext cx="333375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1052133993" name=""/>
          <p:cNvSpPr>
            <a:spLocks noGrp="1"/>
          </p:cNvSpPr>
          <p:nvPr/>
        </p:nvSpPr>
        <p:spPr bwMode="auto">
          <a:xfrm>
            <a:off x="4362450" y="3000375"/>
            <a:ext cx="3333750" cy="2047875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685400446" name=""/>
          <p:cNvSpPr>
            <a:spLocks noGrp="1"/>
          </p:cNvSpPr>
          <p:nvPr/>
        </p:nvSpPr>
        <p:spPr bwMode="auto">
          <a:xfrm>
            <a:off x="4552950" y="320992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Servidor MCP</a:t>
            </a:r>
            <a:endParaRPr/>
          </a:p>
        </p:txBody>
      </p:sp>
      <p:sp>
        <p:nvSpPr>
          <p:cNvPr id="1175535694" name=""/>
          <p:cNvSpPr>
            <a:spLocks noGrp="1"/>
          </p:cNvSpPr>
          <p:nvPr/>
        </p:nvSpPr>
        <p:spPr bwMode="auto">
          <a:xfrm>
            <a:off x="4552950" y="38766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Expõe uma ferramenta autorizada para consultar a receita.</a:t>
            </a:r>
            <a:endParaRPr/>
          </a:p>
        </p:txBody>
      </p:sp>
      <p:sp>
        <p:nvSpPr>
          <p:cNvPr id="495419640" name=""/>
          <p:cNvSpPr>
            <a:spLocks noGrp="1"/>
          </p:cNvSpPr>
          <p:nvPr/>
        </p:nvSpPr>
        <p:spPr bwMode="auto">
          <a:xfrm>
            <a:off x="7781925" y="3819525"/>
            <a:ext cx="333375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1021138510" name=""/>
          <p:cNvSpPr>
            <a:spLocks noGrp="1"/>
          </p:cNvSpPr>
          <p:nvPr/>
        </p:nvSpPr>
        <p:spPr bwMode="auto">
          <a:xfrm>
            <a:off x="8201025" y="3000375"/>
            <a:ext cx="3333750" cy="2047875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355574401" name=""/>
          <p:cNvSpPr>
            <a:spLocks noGrp="1"/>
          </p:cNvSpPr>
          <p:nvPr/>
        </p:nvSpPr>
        <p:spPr bwMode="auto">
          <a:xfrm>
            <a:off x="8391525" y="320992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Sistema de dados</a:t>
            </a:r>
            <a:endParaRPr/>
          </a:p>
        </p:txBody>
      </p:sp>
      <p:sp>
        <p:nvSpPr>
          <p:cNvPr id="1587673111" name=""/>
          <p:cNvSpPr>
            <a:spLocks noGrp="1"/>
          </p:cNvSpPr>
          <p:nvPr/>
        </p:nvSpPr>
        <p:spPr bwMode="auto">
          <a:xfrm>
            <a:off x="8391525" y="38766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Executa a consulta permitida e devolve os registros.</a:t>
            </a:r>
            <a:endParaRPr/>
          </a:p>
        </p:txBody>
      </p:sp>
      <p:sp>
        <p:nvSpPr>
          <p:cNvPr id="1304028859" name=""/>
          <p:cNvSpPr>
            <a:spLocks noGrp="1"/>
          </p:cNvSpPr>
          <p:nvPr/>
        </p:nvSpPr>
        <p:spPr bwMode="auto">
          <a:xfrm>
            <a:off x="523875" y="5572125"/>
            <a:ext cx="11144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resultado volta pelo servidor e pelo cliente até a aplicação. O agente usa os dados para responder.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605379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22 / 36</a:t>
            </a:r>
            <a:endParaRPr/>
          </a:p>
        </p:txBody>
      </p:sp>
      <p:sp>
        <p:nvSpPr>
          <p:cNvPr id="1926276115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Skill, ferramenta, MCP e API</a:t>
            </a:r>
            <a:endParaRPr/>
          </a:p>
        </p:txBody>
      </p:sp>
      <p:sp>
        <p:nvSpPr>
          <p:cNvPr id="1710044790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Os conceitos podem participar da mesma tarefa.</a:t>
            </a:r>
            <a:endParaRPr/>
          </a:p>
        </p:txBody>
      </p:sp>
      <p:graphicFrame>
        <p:nvGraphicFramePr>
          <p:cNvPr id="1303535398" name=""/>
          <p:cNvGraphicFramePr>
            <a:graphicFrameLocks xmlns:a="http://schemas.openxmlformats.org/drawingml/2006/main"/>
          </p:cNvGraphicFramePr>
          <p:nvPr/>
        </p:nvGraphicFramePr>
        <p:xfrm rot="0">
          <a:off x="523875" y="2809875"/>
          <a:ext cx="11144250" cy="3190875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095500"/>
                <a:gridCol w="4667250"/>
                <a:gridCol w="4381500"/>
              </a:tblGrid>
              <a:tr h="638175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Conceito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002D6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Função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002D6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Exemplo didático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002D60"/>
                    </a:solidFill>
                  </a:tcPr>
                </a:tc>
              </a:tr>
              <a:tr h="638175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Skill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Orientar um procedimento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Como validar a receita mensal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</a:tr>
              <a:tr h="638175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Ferramenta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3FA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Executar uma operação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3FA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Consultar registros de vendas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3FAFF"/>
                    </a:solidFill>
                  </a:tcPr>
                </a:tc>
              </a:tr>
              <a:tr h="638175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MCP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Padronizar a integração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Conectar a aplicação ao servidor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6F4FF"/>
                    </a:solidFill>
                  </a:tcPr>
                </a:tc>
              </a:tr>
              <a:tr h="638175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3FA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Interface de um sistema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3FA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sz="1800" b="0">
                          <a:solidFill>
                            <a:srgbClr val="002D60"/>
                          </a:solidFill>
                          <a:latin typeface="Arial"/>
                          <a:ea typeface="Arial"/>
                          <a:cs typeface="Arial"/>
                        </a:rPr>
                        <a:t>Endpoint do serviço de vendas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3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672793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23 / 36</a:t>
            </a:r>
            <a:endParaRPr/>
          </a:p>
        </p:txBody>
      </p:sp>
      <p:sp>
        <p:nvSpPr>
          <p:cNvPr id="87366594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Skill e MCP trabalhando juntos</a:t>
            </a:r>
            <a:endParaRPr/>
          </a:p>
        </p:txBody>
      </p:sp>
      <p:sp>
        <p:nvSpPr>
          <p:cNvPr id="544596398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Pedido: “Gere um relatório da receita do mês usando os dados autorizados.”</a:t>
            </a:r>
            <a:endParaRPr/>
          </a:p>
        </p:txBody>
      </p:sp>
      <p:sp>
        <p:nvSpPr>
          <p:cNvPr id="1676503424" name=""/>
          <p:cNvSpPr>
            <a:spLocks noGrp="1"/>
          </p:cNvSpPr>
          <p:nvPr/>
        </p:nvSpPr>
        <p:spPr bwMode="auto">
          <a:xfrm>
            <a:off x="523875" y="3000375"/>
            <a:ext cx="3333750" cy="2047875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839709252" name=""/>
          <p:cNvSpPr>
            <a:spLocks noGrp="1"/>
          </p:cNvSpPr>
          <p:nvPr/>
        </p:nvSpPr>
        <p:spPr bwMode="auto">
          <a:xfrm>
            <a:off x="714375" y="320992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1. Skill orienta</a:t>
            </a:r>
            <a:endParaRPr/>
          </a:p>
        </p:txBody>
      </p:sp>
      <p:sp>
        <p:nvSpPr>
          <p:cNvPr id="121223588" name=""/>
          <p:cNvSpPr>
            <a:spLocks noGrp="1"/>
          </p:cNvSpPr>
          <p:nvPr/>
        </p:nvSpPr>
        <p:spPr bwMode="auto">
          <a:xfrm>
            <a:off x="714375" y="38766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Define período, regras de cálculo e formato do relatório.</a:t>
            </a:r>
            <a:endParaRPr/>
          </a:p>
        </p:txBody>
      </p:sp>
      <p:sp>
        <p:nvSpPr>
          <p:cNvPr id="1903731525" name=""/>
          <p:cNvSpPr>
            <a:spLocks noGrp="1"/>
          </p:cNvSpPr>
          <p:nvPr/>
        </p:nvSpPr>
        <p:spPr bwMode="auto">
          <a:xfrm>
            <a:off x="3943350" y="3819525"/>
            <a:ext cx="333375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2090565313" name=""/>
          <p:cNvSpPr>
            <a:spLocks noGrp="1"/>
          </p:cNvSpPr>
          <p:nvPr/>
        </p:nvSpPr>
        <p:spPr bwMode="auto">
          <a:xfrm>
            <a:off x="4362450" y="3000375"/>
            <a:ext cx="3333750" cy="2047875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2108002732" name=""/>
          <p:cNvSpPr>
            <a:spLocks noGrp="1"/>
          </p:cNvSpPr>
          <p:nvPr/>
        </p:nvSpPr>
        <p:spPr bwMode="auto">
          <a:xfrm>
            <a:off x="4552950" y="320992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2. Ferramenta busca</a:t>
            </a:r>
            <a:endParaRPr/>
          </a:p>
        </p:txBody>
      </p:sp>
      <p:sp>
        <p:nvSpPr>
          <p:cNvPr id="1628945746" name=""/>
          <p:cNvSpPr>
            <a:spLocks noGrp="1"/>
          </p:cNvSpPr>
          <p:nvPr/>
        </p:nvSpPr>
        <p:spPr bwMode="auto">
          <a:xfrm>
            <a:off x="4552950" y="38766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Via MCP, consulta os registros disponíveis no serviço.</a:t>
            </a:r>
            <a:endParaRPr/>
          </a:p>
        </p:txBody>
      </p:sp>
      <p:sp>
        <p:nvSpPr>
          <p:cNvPr id="793552171" name=""/>
          <p:cNvSpPr>
            <a:spLocks noGrp="1"/>
          </p:cNvSpPr>
          <p:nvPr/>
        </p:nvSpPr>
        <p:spPr bwMode="auto">
          <a:xfrm>
            <a:off x="7781925" y="3819525"/>
            <a:ext cx="333375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1333351538" name=""/>
          <p:cNvSpPr>
            <a:spLocks noGrp="1"/>
          </p:cNvSpPr>
          <p:nvPr/>
        </p:nvSpPr>
        <p:spPr bwMode="auto">
          <a:xfrm>
            <a:off x="8201025" y="3000375"/>
            <a:ext cx="3333750" cy="2047875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272585419" name=""/>
          <p:cNvSpPr>
            <a:spLocks noGrp="1"/>
          </p:cNvSpPr>
          <p:nvPr/>
        </p:nvSpPr>
        <p:spPr bwMode="auto">
          <a:xfrm>
            <a:off x="8391525" y="320992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3. Agente verifica</a:t>
            </a:r>
            <a:endParaRPr/>
          </a:p>
        </p:txBody>
      </p:sp>
      <p:sp>
        <p:nvSpPr>
          <p:cNvPr id="294983599" name=""/>
          <p:cNvSpPr>
            <a:spLocks noGrp="1"/>
          </p:cNvSpPr>
          <p:nvPr/>
        </p:nvSpPr>
        <p:spPr bwMode="auto">
          <a:xfrm>
            <a:off x="8391525" y="38766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Calcula, confere os totais e produz a entrega.</a:t>
            </a:r>
            <a:endParaRPr/>
          </a:p>
        </p:txBody>
      </p:sp>
      <p:sp>
        <p:nvSpPr>
          <p:cNvPr id="1967039815" name=""/>
          <p:cNvSpPr>
            <a:spLocks noGrp="1"/>
          </p:cNvSpPr>
          <p:nvPr/>
        </p:nvSpPr>
        <p:spPr bwMode="auto">
          <a:xfrm>
            <a:off x="523875" y="5572125"/>
            <a:ext cx="11144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skill pode usar ferramentas locais, uma integração MCP ou ambas, conforme a tarefa.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318637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24 / 36</a:t>
            </a:r>
            <a:endParaRPr/>
          </a:p>
        </p:txBody>
      </p:sp>
      <p:sp>
        <p:nvSpPr>
          <p:cNvPr id="229672689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Sete passos para criar uma skill</a:t>
            </a:r>
            <a:endParaRPr/>
          </a:p>
        </p:txBody>
      </p:sp>
      <p:sp>
        <p:nvSpPr>
          <p:cNvPr id="1464395672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 procedimento para transformar uma tarefa recorrente em instruções reutilizáveis.</a:t>
            </a:r>
            <a:endParaRPr/>
          </a:p>
        </p:txBody>
      </p:sp>
      <p:sp>
        <p:nvSpPr>
          <p:cNvPr id="917732015" name=""/>
          <p:cNvSpPr>
            <a:spLocks noGrp="1"/>
          </p:cNvSpPr>
          <p:nvPr/>
        </p:nvSpPr>
        <p:spPr bwMode="auto">
          <a:xfrm>
            <a:off x="523875" y="2905125"/>
            <a:ext cx="2381250" cy="1238250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406458097" name=""/>
          <p:cNvSpPr>
            <a:spLocks noGrp="1"/>
          </p:cNvSpPr>
          <p:nvPr/>
        </p:nvSpPr>
        <p:spPr bwMode="auto">
          <a:xfrm>
            <a:off x="666750" y="30194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1. Delimitar</a:t>
            </a:r>
            <a:endParaRPr/>
          </a:p>
        </p:txBody>
      </p:sp>
      <p:sp>
        <p:nvSpPr>
          <p:cNvPr id="1692660516" name=""/>
          <p:cNvSpPr>
            <a:spLocks noGrp="1"/>
          </p:cNvSpPr>
          <p:nvPr/>
        </p:nvSpPr>
        <p:spPr bwMode="auto">
          <a:xfrm>
            <a:off x="666750" y="3467100"/>
            <a:ext cx="2095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Escolher a tarefa</a:t>
            </a:r>
            <a:endParaRPr/>
          </a:p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 quando usar</a:t>
            </a:r>
            <a:endParaRPr/>
          </a:p>
        </p:txBody>
      </p:sp>
      <p:sp>
        <p:nvSpPr>
          <p:cNvPr id="819773557" name=""/>
          <p:cNvSpPr>
            <a:spLocks noGrp="1"/>
          </p:cNvSpPr>
          <p:nvPr/>
        </p:nvSpPr>
        <p:spPr bwMode="auto">
          <a:xfrm>
            <a:off x="3429000" y="2905125"/>
            <a:ext cx="2381250" cy="1238250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58437501" name=""/>
          <p:cNvSpPr>
            <a:spLocks noGrp="1"/>
          </p:cNvSpPr>
          <p:nvPr/>
        </p:nvSpPr>
        <p:spPr bwMode="auto">
          <a:xfrm>
            <a:off x="3571875" y="30194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2. Definir</a:t>
            </a:r>
            <a:endParaRPr/>
          </a:p>
        </p:txBody>
      </p:sp>
      <p:sp>
        <p:nvSpPr>
          <p:cNvPr id="1733834329" name=""/>
          <p:cNvSpPr>
            <a:spLocks noGrp="1"/>
          </p:cNvSpPr>
          <p:nvPr/>
        </p:nvSpPr>
        <p:spPr bwMode="auto">
          <a:xfrm>
            <a:off x="3571875" y="3467100"/>
            <a:ext cx="2095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Entradas, regras</a:t>
            </a:r>
            <a:endParaRPr/>
          </a:p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 saídas esperadas</a:t>
            </a:r>
            <a:endParaRPr/>
          </a:p>
        </p:txBody>
      </p:sp>
      <p:sp>
        <p:nvSpPr>
          <p:cNvPr id="282622083" name=""/>
          <p:cNvSpPr>
            <a:spLocks noGrp="1"/>
          </p:cNvSpPr>
          <p:nvPr/>
        </p:nvSpPr>
        <p:spPr bwMode="auto">
          <a:xfrm>
            <a:off x="6334125" y="2905125"/>
            <a:ext cx="2381250" cy="1238250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220196367" name=""/>
          <p:cNvSpPr>
            <a:spLocks noGrp="1"/>
          </p:cNvSpPr>
          <p:nvPr/>
        </p:nvSpPr>
        <p:spPr bwMode="auto">
          <a:xfrm>
            <a:off x="6477000" y="30194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3. Criar a pasta</a:t>
            </a:r>
            <a:endParaRPr/>
          </a:p>
        </p:txBody>
      </p:sp>
      <p:sp>
        <p:nvSpPr>
          <p:cNvPr id="232004285" name=""/>
          <p:cNvSpPr>
            <a:spLocks noGrp="1"/>
          </p:cNvSpPr>
          <p:nvPr/>
        </p:nvSpPr>
        <p:spPr bwMode="auto">
          <a:xfrm>
            <a:off x="6477000" y="3467100"/>
            <a:ext cx="2095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Organizar o arquivo</a:t>
            </a:r>
            <a:endParaRPr/>
          </a:p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SKILL.md</a:t>
            </a:r>
            <a:endParaRPr/>
          </a:p>
        </p:txBody>
      </p:sp>
      <p:sp>
        <p:nvSpPr>
          <p:cNvPr id="1796196090" name=""/>
          <p:cNvSpPr>
            <a:spLocks noGrp="1"/>
          </p:cNvSpPr>
          <p:nvPr/>
        </p:nvSpPr>
        <p:spPr bwMode="auto">
          <a:xfrm>
            <a:off x="9239250" y="2905125"/>
            <a:ext cx="2381250" cy="1238250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1717076045" name=""/>
          <p:cNvSpPr>
            <a:spLocks noGrp="1"/>
          </p:cNvSpPr>
          <p:nvPr/>
        </p:nvSpPr>
        <p:spPr bwMode="auto">
          <a:xfrm>
            <a:off x="9382125" y="30194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4. Escrever</a:t>
            </a:r>
            <a:endParaRPr/>
          </a:p>
        </p:txBody>
      </p:sp>
      <p:sp>
        <p:nvSpPr>
          <p:cNvPr id="1223035735" name=""/>
          <p:cNvSpPr>
            <a:spLocks noGrp="1"/>
          </p:cNvSpPr>
          <p:nvPr/>
        </p:nvSpPr>
        <p:spPr bwMode="auto">
          <a:xfrm>
            <a:off x="9382125" y="3467100"/>
            <a:ext cx="2095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Nome, descrição</a:t>
            </a:r>
            <a:endParaRPr/>
          </a:p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 procedimento</a:t>
            </a:r>
            <a:endParaRPr/>
          </a:p>
        </p:txBody>
      </p:sp>
      <p:sp>
        <p:nvSpPr>
          <p:cNvPr id="2062150194" name=""/>
          <p:cNvSpPr>
            <a:spLocks noGrp="1"/>
          </p:cNvSpPr>
          <p:nvPr/>
        </p:nvSpPr>
        <p:spPr bwMode="auto">
          <a:xfrm>
            <a:off x="9239250" y="4619625"/>
            <a:ext cx="2381250" cy="1238250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1169422343" name=""/>
          <p:cNvSpPr>
            <a:spLocks noGrp="1"/>
          </p:cNvSpPr>
          <p:nvPr/>
        </p:nvSpPr>
        <p:spPr bwMode="auto">
          <a:xfrm>
            <a:off x="9382125" y="47339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5. Preparar</a:t>
            </a:r>
            <a:endParaRPr/>
          </a:p>
        </p:txBody>
      </p:sp>
      <p:sp>
        <p:nvSpPr>
          <p:cNvPr id="1165895711" name=""/>
          <p:cNvSpPr>
            <a:spLocks noGrp="1"/>
          </p:cNvSpPr>
          <p:nvPr/>
        </p:nvSpPr>
        <p:spPr bwMode="auto">
          <a:xfrm>
            <a:off x="9382125" y="5181600"/>
            <a:ext cx="2095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Recursos opcionais</a:t>
            </a:r>
            <a:endParaRPr/>
          </a:p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 ferramentas</a:t>
            </a:r>
            <a:endParaRPr/>
          </a:p>
        </p:txBody>
      </p:sp>
      <p:sp>
        <p:nvSpPr>
          <p:cNvPr id="380438329" name=""/>
          <p:cNvSpPr>
            <a:spLocks noGrp="1"/>
          </p:cNvSpPr>
          <p:nvPr/>
        </p:nvSpPr>
        <p:spPr bwMode="auto">
          <a:xfrm>
            <a:off x="6334125" y="4619625"/>
            <a:ext cx="2381250" cy="1238250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2030187998" name=""/>
          <p:cNvSpPr>
            <a:spLocks noGrp="1"/>
          </p:cNvSpPr>
          <p:nvPr/>
        </p:nvSpPr>
        <p:spPr bwMode="auto">
          <a:xfrm>
            <a:off x="6477000" y="47339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6. Testar</a:t>
            </a:r>
            <a:endParaRPr/>
          </a:p>
        </p:txBody>
      </p:sp>
      <p:sp>
        <p:nvSpPr>
          <p:cNvPr id="1663275125" name=""/>
          <p:cNvSpPr>
            <a:spLocks noGrp="1"/>
          </p:cNvSpPr>
          <p:nvPr/>
        </p:nvSpPr>
        <p:spPr bwMode="auto">
          <a:xfrm>
            <a:off x="6477000" y="5181600"/>
            <a:ext cx="2095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Conferir ativação</a:t>
            </a:r>
            <a:endParaRPr/>
          </a:p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 resultado</a:t>
            </a:r>
            <a:endParaRPr/>
          </a:p>
        </p:txBody>
      </p:sp>
      <p:sp>
        <p:nvSpPr>
          <p:cNvPr id="196897284" name=""/>
          <p:cNvSpPr>
            <a:spLocks noGrp="1"/>
          </p:cNvSpPr>
          <p:nvPr/>
        </p:nvSpPr>
        <p:spPr bwMode="auto">
          <a:xfrm>
            <a:off x="3429000" y="4619625"/>
            <a:ext cx="2381250" cy="1238250"/>
          </a:xfrm>
          <a:prstGeom prst="rect">
            <a:avLst/>
          </a:prstGeom>
          <a:solidFill>
            <a:srgbClr val="E4F4FF"/>
          </a:solidFill>
          <a:ln w="19050">
            <a:solidFill>
              <a:srgbClr val="B9E4FD"/>
            </a:solidFill>
          </a:ln>
        </p:spPr>
      </p:sp>
      <p:sp>
        <p:nvSpPr>
          <p:cNvPr id="1447405212" name=""/>
          <p:cNvSpPr>
            <a:spLocks noGrp="1"/>
          </p:cNvSpPr>
          <p:nvPr/>
        </p:nvSpPr>
        <p:spPr bwMode="auto">
          <a:xfrm>
            <a:off x="3571875" y="47339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7. Revisar</a:t>
            </a:r>
            <a:endParaRPr/>
          </a:p>
        </p:txBody>
      </p:sp>
      <p:sp>
        <p:nvSpPr>
          <p:cNvPr id="259713093" name=""/>
          <p:cNvSpPr>
            <a:spLocks noGrp="1"/>
          </p:cNvSpPr>
          <p:nvPr/>
        </p:nvSpPr>
        <p:spPr bwMode="auto">
          <a:xfrm>
            <a:off x="3571875" y="5181600"/>
            <a:ext cx="2095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Corrigir, versionar</a:t>
            </a:r>
            <a:endParaRPr/>
          </a:p>
          <a:p>
            <a: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 reutilizar</a:t>
            </a:r>
            <a:endParaRPr/>
          </a:p>
        </p:txBody>
      </p:sp>
      <p:sp>
        <p:nvSpPr>
          <p:cNvPr id="308208978" name=""/>
          <p:cNvSpPr>
            <a:spLocks noGrp="1"/>
          </p:cNvSpPr>
          <p:nvPr/>
        </p:nvSpPr>
        <p:spPr bwMode="auto">
          <a:xfrm>
            <a:off x="3000375" y="3381375"/>
            <a:ext cx="323850" cy="2476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1456083047" name=""/>
          <p:cNvSpPr>
            <a:spLocks noGrp="1"/>
          </p:cNvSpPr>
          <p:nvPr/>
        </p:nvSpPr>
        <p:spPr bwMode="auto">
          <a:xfrm>
            <a:off x="5905500" y="3381375"/>
            <a:ext cx="323850" cy="2476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628227751" name=""/>
          <p:cNvSpPr>
            <a:spLocks noGrp="1"/>
          </p:cNvSpPr>
          <p:nvPr/>
        </p:nvSpPr>
        <p:spPr bwMode="auto">
          <a:xfrm>
            <a:off x="8810625" y="3381375"/>
            <a:ext cx="323850" cy="2476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557754221" name=""/>
          <p:cNvSpPr>
            <a:spLocks noGrp="1"/>
          </p:cNvSpPr>
          <p:nvPr/>
        </p:nvSpPr>
        <p:spPr bwMode="auto">
          <a:xfrm>
            <a:off x="10306049" y="4238625"/>
            <a:ext cx="247650" cy="2857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1435112277" name=""/>
          <p:cNvSpPr>
            <a:spLocks noGrp="1"/>
          </p:cNvSpPr>
          <p:nvPr/>
        </p:nvSpPr>
        <p:spPr bwMode="auto">
          <a:xfrm>
            <a:off x="8810625" y="5095875"/>
            <a:ext cx="323850" cy="24765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403516933" name=""/>
          <p:cNvSpPr>
            <a:spLocks noGrp="1"/>
          </p:cNvSpPr>
          <p:nvPr/>
        </p:nvSpPr>
        <p:spPr bwMode="auto">
          <a:xfrm>
            <a:off x="5905500" y="5095875"/>
            <a:ext cx="323850" cy="24765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586C5"/>
          </a:solidFill>
          <a:ln w="0">
            <a:noFill/>
          </a:ln>
        </p:spPr>
      </p:sp>
      <p:sp>
        <p:nvSpPr>
          <p:cNvPr id="1977350598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conteúdo muda com a tarefa. A estrutura ajuda a criar e conferir o procedimento.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180601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25 / 36</a:t>
            </a:r>
            <a:endParaRPr/>
          </a:p>
        </p:txBody>
      </p:sp>
      <p:sp>
        <p:nvSpPr>
          <p:cNvPr id="1819727903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1. Delimitar a tarefa e quando usar</a:t>
            </a:r>
            <a:endParaRPr/>
          </a:p>
        </p:txBody>
      </p:sp>
      <p:sp>
        <p:nvSpPr>
          <p:cNvPr id="1132263278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Escolha um trabalho que se repete e que possa ter um resultado conferido.</a:t>
            </a:r>
            <a:endParaRPr/>
          </a:p>
        </p:txBody>
      </p:sp>
      <p:sp>
        <p:nvSpPr>
          <p:cNvPr id="210156450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29008710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fazer</a:t>
            </a:r>
            <a:endParaRPr/>
          </a:p>
        </p:txBody>
      </p:sp>
      <p:sp>
        <p:nvSpPr>
          <p:cNvPr id="707747207" name=""/>
          <p:cNvSpPr>
            <a:spLocks noGrp="1"/>
          </p:cNvSpPr>
          <p:nvPr/>
        </p:nvSpPr>
        <p:spPr bwMode="auto">
          <a:xfrm>
            <a:off x="523875" y="3333750"/>
            <a:ext cx="52197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Defina quem usará a skill, qual tarefa ela deve realizar e o que fica fora do escopo.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Reúna uma situação real em que ela seria útil.</a:t>
            </a:r>
            <a:endParaRPr/>
          </a:p>
        </p:txBody>
      </p:sp>
      <p:sp>
        <p:nvSpPr>
          <p:cNvPr id="695234626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Pedido ao agente</a:t>
            </a:r>
            <a:endParaRPr/>
          </a:p>
        </p:txBody>
      </p:sp>
      <p:sp>
        <p:nvSpPr>
          <p:cNvPr id="906755697" name=""/>
          <p:cNvSpPr>
            <a:spLocks noGrp="1"/>
          </p:cNvSpPr>
          <p:nvPr/>
        </p:nvSpPr>
        <p:spPr bwMode="auto">
          <a:xfrm>
            <a:off x="6334125" y="3333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“Quero criar uma skill para [tarefa]. Faça perguntas para entender o objetivo, quando ela deve atuar e como reconhecer uma boa entrega.”</a:t>
            </a:r>
            <a:endParaRPr/>
          </a:p>
        </p:txBody>
      </p:sp>
      <p:sp>
        <p:nvSpPr>
          <p:cNvPr id="606207617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propósito específico, condições de uso e limites compreensíveis.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740731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26 / 36</a:t>
            </a:r>
            <a:endParaRPr/>
          </a:p>
        </p:txBody>
      </p:sp>
      <p:sp>
        <p:nvSpPr>
          <p:cNvPr id="75011801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2. Definir entradas, regras e saídas</a:t>
            </a:r>
            <a:endParaRPr/>
          </a:p>
        </p:txBody>
      </p:sp>
      <p:sp>
        <p:nvSpPr>
          <p:cNvPr id="100022068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Antes de escrever a skill, esclareça o acordo sobre o resultado.</a:t>
            </a:r>
            <a:endParaRPr/>
          </a:p>
        </p:txBody>
      </p:sp>
      <p:sp>
        <p:nvSpPr>
          <p:cNvPr id="586382431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1813113060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fazer</a:t>
            </a:r>
            <a:endParaRPr/>
          </a:p>
        </p:txBody>
      </p:sp>
      <p:sp>
        <p:nvSpPr>
          <p:cNvPr id="1375387399" name=""/>
          <p:cNvSpPr>
            <a:spLocks noGrp="1"/>
          </p:cNvSpPr>
          <p:nvPr/>
        </p:nvSpPr>
        <p:spPr bwMode="auto">
          <a:xfrm>
            <a:off x="523875" y="3333750"/>
            <a:ext cx="52197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Liste informações, arquivos ou parâmetros necessários. Defina regras do domínio e restrições.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Escolha o formato da entrega e um exemplo pequeno com resultado esperado.</a:t>
            </a:r>
            <a:endParaRPr/>
          </a:p>
        </p:txBody>
      </p:sp>
      <p:sp>
        <p:nvSpPr>
          <p:cNvPr id="1322706942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Pedido ao agente</a:t>
            </a:r>
            <a:endParaRPr/>
          </a:p>
        </p:txBody>
      </p:sp>
      <p:sp>
        <p:nvSpPr>
          <p:cNvPr id="103049852" name=""/>
          <p:cNvSpPr>
            <a:spLocks noGrp="1"/>
          </p:cNvSpPr>
          <p:nvPr/>
        </p:nvSpPr>
        <p:spPr bwMode="auto">
          <a:xfrm>
            <a:off x="6334125" y="3333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“Para [tarefa], identifique entradas obrigatórias, regras, saídas e dúvidas. O que fazer quando uma entrada faltar ou não for válida?”</a:t>
            </a:r>
            <a:endParaRPr/>
          </a:p>
        </p:txBody>
      </p:sp>
      <p:sp>
        <p:nvSpPr>
          <p:cNvPr id="1929100222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um acordo verificável, adequado ao caso de uso.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976212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27 / 36</a:t>
            </a:r>
            <a:endParaRPr/>
          </a:p>
        </p:txBody>
      </p:sp>
      <p:sp>
        <p:nvSpPr>
          <p:cNvPr id="228073279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3. Criar a pasta e copiar o template</a:t>
            </a:r>
            <a:endParaRPr/>
          </a:p>
        </p:txBody>
      </p:sp>
      <p:sp>
        <p:nvSpPr>
          <p:cNvPr id="1697507156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Cada skill precisa de uma pasta própria com um arquivo chamado SKILL.md.</a:t>
            </a:r>
            <a:endParaRPr/>
          </a:p>
        </p:txBody>
      </p:sp>
      <p:sp>
        <p:nvSpPr>
          <p:cNvPr id="1866554242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1909739570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fazer</a:t>
            </a:r>
            <a:endParaRPr/>
          </a:p>
        </p:txBody>
      </p:sp>
      <p:sp>
        <p:nvSpPr>
          <p:cNvPr id="2053636296" name=""/>
          <p:cNvSpPr>
            <a:spLocks noGrp="1"/>
          </p:cNvSpPr>
          <p:nvPr/>
        </p:nvSpPr>
        <p:spPr bwMode="auto">
          <a:xfrm>
            <a:off x="523875" y="3333750"/>
            <a:ext cx="52197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Copie templates/SKILL.md da aula para a pasta da nova skill no seu projeto.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Escolha um nome curto em letras minúsculas, números e hífens, como nome-da-skill.</a:t>
            </a:r>
            <a:endParaRPr/>
          </a:p>
        </p:txBody>
      </p:sp>
      <p:sp>
        <p:nvSpPr>
          <p:cNvPr id="482906810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Onde salvar no projeto</a:t>
            </a:r>
            <a:endParaRPr/>
          </a:p>
        </p:txBody>
      </p:sp>
      <p:sp>
        <p:nvSpPr>
          <p:cNvPr id="965677644" name=""/>
          <p:cNvSpPr>
            <a:spLocks noGrp="1"/>
          </p:cNvSpPr>
          <p:nvPr/>
        </p:nvSpPr>
        <p:spPr bwMode="auto">
          <a:xfrm>
            <a:off x="6334125" y="3333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Codex:</a:t>
            </a: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.agents/skills/nome-da-skill/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Claude Code local:</a:t>
            </a: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.claude/skills/nome-da-skill/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Salve SKILL.md dentro da pasta escolhida.</a:t>
            </a:r>
            <a:endParaRPr/>
          </a:p>
        </p:txBody>
      </p:sp>
      <p:sp>
        <p:nvSpPr>
          <p:cNvPr id="1951768234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pasta e arquivo no local reconhecido pela ferramenta. O template original permanece reutilizável.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813988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28 / 36</a:t>
            </a:r>
            <a:endParaRPr/>
          </a:p>
        </p:txBody>
      </p:sp>
      <p:sp>
        <p:nvSpPr>
          <p:cNvPr id="2137995998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4. Preencher os metadados e as instruções</a:t>
            </a:r>
            <a:endParaRPr/>
          </a:p>
        </p:txBody>
      </p:sp>
      <p:sp>
        <p:nvSpPr>
          <p:cNvPr id="437921036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início identifica a skill. O corpo explica como executar a tarefa.</a:t>
            </a:r>
            <a:endParaRPr/>
          </a:p>
        </p:txBody>
      </p:sp>
      <p:sp>
        <p:nvSpPr>
          <p:cNvPr id="747736494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1886402738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fazer</a:t>
            </a:r>
            <a:endParaRPr/>
          </a:p>
        </p:txBody>
      </p:sp>
      <p:sp>
        <p:nvSpPr>
          <p:cNvPr id="584497693" name=""/>
          <p:cNvSpPr>
            <a:spLocks noGrp="1"/>
          </p:cNvSpPr>
          <p:nvPr/>
        </p:nvSpPr>
        <p:spPr bwMode="auto">
          <a:xfrm>
            <a:off x="523875" y="3333750"/>
            <a:ext cx="52197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No YAML entre marcadores ---, preencha name e description. O nome deve corresponder à pasta.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No Markdown, descreva entradas, regras, passos, verificações e entrega.</a:t>
            </a:r>
            <a:endParaRPr/>
          </a:p>
        </p:txBody>
      </p:sp>
      <p:sp>
        <p:nvSpPr>
          <p:cNvPr id="1760176029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Pedido ao agente</a:t>
            </a:r>
            <a:endParaRPr/>
          </a:p>
        </p:txBody>
      </p:sp>
      <p:sp>
        <p:nvSpPr>
          <p:cNvPr id="1836037399" name=""/>
          <p:cNvSpPr>
            <a:spLocks noGrp="1"/>
          </p:cNvSpPr>
          <p:nvPr/>
        </p:nvSpPr>
        <p:spPr bwMode="auto">
          <a:xfrm>
            <a:off x="6334125" y="3333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“Adapte o template à tarefa definida. A descrição deve indicar o que faz e quando usar. Escreva instruções concretas e retire seções que não se aplicam.”</a:t>
            </a:r>
            <a:endParaRPr/>
          </a:p>
        </p:txBody>
      </p:sp>
      <p:sp>
        <p:nvSpPr>
          <p:cNvPr id="1133216376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SKILL.md preenchido, sem campos genéricos esquecidos.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966862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29 / 36</a:t>
            </a:r>
            <a:endParaRPr/>
          </a:p>
        </p:txBody>
      </p:sp>
      <p:sp>
        <p:nvSpPr>
          <p:cNvPr id="2140496618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5. Preparar recursos quando forem necessários</a:t>
            </a:r>
            <a:endParaRPr/>
          </a:p>
        </p:txBody>
      </p:sp>
      <p:sp>
        <p:nvSpPr>
          <p:cNvPr id="1602010963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Uma skill pode funcionar apenas com instruções e ferramentas já disponíveis.</a:t>
            </a:r>
            <a:endParaRPr/>
          </a:p>
        </p:txBody>
      </p:sp>
      <p:sp>
        <p:nvSpPr>
          <p:cNvPr id="1518336997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681252803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Como escolher os recursos</a:t>
            </a:r>
            <a:endParaRPr/>
          </a:p>
        </p:txBody>
      </p:sp>
      <p:sp>
        <p:nvSpPr>
          <p:cNvPr id="2004894952" name=""/>
          <p:cNvSpPr>
            <a:spLocks noGrp="1"/>
          </p:cNvSpPr>
          <p:nvPr/>
        </p:nvSpPr>
        <p:spPr bwMode="auto">
          <a:xfrm>
            <a:off x="523875" y="3333750"/>
            <a:ext cx="52197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references/: regras e documentação.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scripts/: código reutilizável, quando a tarefa exigir execução.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assets/: modelos e arquivos usados na saída.</a:t>
            </a:r>
            <a:endParaRPr/>
          </a:p>
        </p:txBody>
      </p:sp>
      <p:sp>
        <p:nvSpPr>
          <p:cNvPr id="1532598161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Pedido ao agente</a:t>
            </a:r>
            <a:endParaRPr/>
          </a:p>
        </p:txBody>
      </p:sp>
      <p:sp>
        <p:nvSpPr>
          <p:cNvPr id="1314804788" name=""/>
          <p:cNvSpPr>
            <a:spLocks noGrp="1"/>
          </p:cNvSpPr>
          <p:nvPr/>
        </p:nvSpPr>
        <p:spPr bwMode="auto">
          <a:xfrm>
            <a:off x="6334125" y="3333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“Quais recursos esta tarefa precisa? Crie somente os necessários, indique quando consultá-los e documente ferramentas e dependências reais.”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Inclua um script quando ele melhorar a execução.</a:t>
            </a:r>
            <a:endParaRPr/>
          </a:p>
        </p:txBody>
      </p:sp>
      <p:sp>
        <p:nvSpPr>
          <p:cNvPr id="105974831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recursos úteis e referências válidas. Código, Python e MCP dependem do caso de uso.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32918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30 / 36</a:t>
            </a:r>
            <a:endParaRPr/>
          </a:p>
        </p:txBody>
      </p:sp>
      <p:sp>
        <p:nvSpPr>
          <p:cNvPr id="1055988911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6. Ativar a skill e testar o comportamento</a:t>
            </a:r>
            <a:endParaRPr/>
          </a:p>
        </p:txBody>
      </p:sp>
      <p:sp>
        <p:nvSpPr>
          <p:cNvPr id="150662719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Confira tanto a escolha da skill quanto a qualidade da entrega.</a:t>
            </a:r>
            <a:endParaRPr/>
          </a:p>
        </p:txBody>
      </p:sp>
      <p:sp>
        <p:nvSpPr>
          <p:cNvPr id="1296659283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329164122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Como iniciar</a:t>
            </a:r>
            <a:endParaRPr/>
          </a:p>
        </p:txBody>
      </p:sp>
      <p:sp>
        <p:nvSpPr>
          <p:cNvPr id="357311414" name=""/>
          <p:cNvSpPr>
            <a:spLocks noGrp="1"/>
          </p:cNvSpPr>
          <p:nvPr/>
        </p:nvSpPr>
        <p:spPr bwMode="auto">
          <a:xfrm>
            <a:off x="523875" y="3333750"/>
            <a:ext cx="52197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No Codex, mencione $nome-da-skill.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No Claude Code local, use /nome-da-skill.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Forneça a tarefa e suas entradas. Confira se o agente leu as instruções.</a:t>
            </a:r>
            <a:endParaRPr/>
          </a:p>
        </p:txBody>
      </p:sp>
      <p:sp>
        <p:nvSpPr>
          <p:cNvPr id="1341593298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O que testar</a:t>
            </a:r>
            <a:endParaRPr/>
          </a:p>
        </p:txBody>
      </p:sp>
      <p:sp>
        <p:nvSpPr>
          <p:cNvPr id="454532559" name=""/>
          <p:cNvSpPr>
            <a:spLocks noGrp="1"/>
          </p:cNvSpPr>
          <p:nvPr/>
        </p:nvSpPr>
        <p:spPr bwMode="auto">
          <a:xfrm>
            <a:off x="6334125" y="3333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 caso normal com resultado conhecido.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Uma entrada ausente ou inválida.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 pedido fora do escopo.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Compare o resultado observado com o esperado.</a:t>
            </a:r>
            <a:endParaRPr/>
          </a:p>
        </p:txBody>
      </p:sp>
      <p:sp>
        <p:nvSpPr>
          <p:cNvPr id="681895407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evidências de passou, falhou e não verificado. Um arquivo válido não garante uma skill eficaz.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903119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31 / 36</a:t>
            </a:r>
            <a:endParaRPr/>
          </a:p>
        </p:txBody>
      </p:sp>
      <p:sp>
        <p:nvSpPr>
          <p:cNvPr id="1031945999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7. Corrigir, revisar e reutilizar</a:t>
            </a:r>
            <a:endParaRPr/>
          </a:p>
        </p:txBody>
      </p:sp>
      <p:sp>
        <p:nvSpPr>
          <p:cNvPr id="1965847167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Use as falhas observadas para melhorar o procedimento.</a:t>
            </a:r>
            <a:endParaRPr/>
          </a:p>
        </p:txBody>
      </p:sp>
      <p:sp>
        <p:nvSpPr>
          <p:cNvPr id="404068351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105879881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O que fazer</a:t>
            </a:r>
            <a:endParaRPr/>
          </a:p>
        </p:txBody>
      </p:sp>
      <p:sp>
        <p:nvSpPr>
          <p:cNvPr id="1733177055" name=""/>
          <p:cNvSpPr>
            <a:spLocks noGrp="1"/>
          </p:cNvSpPr>
          <p:nvPr/>
        </p:nvSpPr>
        <p:spPr bwMode="auto">
          <a:xfrm>
            <a:off x="523875" y="3333750"/>
            <a:ext cx="52197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Se a skill não for escolhida, confira caminho, nome e descrição.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Se o resultado falhar, revise instruções, referências, ferramentas e código, quando houver. Repita os testes.</a:t>
            </a:r>
            <a:endParaRPr/>
          </a:p>
        </p:txBody>
      </p:sp>
      <p:sp>
        <p:nvSpPr>
          <p:cNvPr id="1253286962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Revisão e compartilhamento</a:t>
            </a:r>
            <a:endParaRPr/>
          </a:p>
        </p:txBody>
      </p:sp>
      <p:sp>
        <p:nvSpPr>
          <p:cNvPr id="259448921" name=""/>
          <p:cNvSpPr>
            <a:spLocks noGrp="1"/>
          </p:cNvSpPr>
          <p:nvPr/>
        </p:nvSpPr>
        <p:spPr bwMode="auto">
          <a:xfrm>
            <a:off x="6334125" y="3333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Registre a mudança no repositório. Use branch e PR para revisar a skill e seus recursos.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Explique como usar e verificar a entrega. Preserve as decisões que continuam válidas.</a:t>
            </a:r>
            <a:endParaRPr/>
          </a:p>
        </p:txBody>
      </p:sp>
      <p:sp>
        <p:nvSpPr>
          <p:cNvPr id="606924209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uma versão revisada que outra pessoa consiga usar e conferir.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0084" name=""/>
          <p:cNvSpPr>
            <a:spLocks noGrp="1"/>
          </p:cNvSpPr>
          <p:nvPr/>
        </p:nvSpPr>
        <p:spPr bwMode="auto">
          <a:xfrm>
            <a:off x="457200" y="2381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/>
              <a:t>33 / 36</a:t>
            </a:r>
            <a:endParaRPr/>
          </a:p>
        </p:txBody>
      </p:sp>
      <p:sp>
        <p:nvSpPr>
          <p:cNvPr id="2057580796" name=""/>
          <p:cNvSpPr>
            <a:spLocks noGrp="1"/>
          </p:cNvSpPr>
          <p:nvPr/>
        </p:nvSpPr>
        <p:spPr bwMode="auto">
          <a:xfrm>
            <a:off x="495300" y="762000"/>
            <a:ext cx="11144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Como conferir se o template foi bem adaptado</a:t>
            </a:r>
            <a:endParaRPr/>
          </a:p>
        </p:txBody>
      </p:sp>
      <p:sp>
        <p:nvSpPr>
          <p:cNvPr id="1107420772" name=""/>
          <p:cNvSpPr>
            <a:spLocks noGrp="1"/>
          </p:cNvSpPr>
          <p:nvPr/>
        </p:nvSpPr>
        <p:spPr bwMode="auto">
          <a:xfrm>
            <a:off x="523875" y="1714500"/>
            <a:ext cx="11049000" cy="876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Leia o resultado como alguém que precisa executar a tarefa sem conhecer a conversa original.</a:t>
            </a:r>
            <a:endParaRPr/>
          </a:p>
        </p:txBody>
      </p:sp>
      <p:sp>
        <p:nvSpPr>
          <p:cNvPr id="1999094333" name=""/>
          <p:cNvSpPr>
            <a:spLocks noGrp="1"/>
          </p:cNvSpPr>
          <p:nvPr/>
        </p:nvSpPr>
        <p:spPr bwMode="auto">
          <a:xfrm>
            <a:off x="5991225" y="2724150"/>
            <a:ext cx="28575" cy="3143250"/>
          </a:xfrm>
          <a:prstGeom prst="rect">
            <a:avLst/>
          </a:prstGeom>
          <a:solidFill>
            <a:srgbClr val="B9E4FD"/>
          </a:solidFill>
          <a:ln w="0">
            <a:noFill/>
          </a:ln>
        </p:spPr>
      </p:sp>
      <p:sp>
        <p:nvSpPr>
          <p:cNvPr id="752672723" name=""/>
          <p:cNvSpPr>
            <a:spLocks noGrp="1"/>
          </p:cNvSpPr>
          <p:nvPr/>
        </p:nvSpPr>
        <p:spPr bwMode="auto">
          <a:xfrm>
            <a:off x="52387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99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99F5"/>
                </a:solidFill>
                <a:latin typeface="Arial"/>
                <a:ea typeface="Arial"/>
                <a:cs typeface="Arial"/>
              </a:rPr>
              <a:t>Clareza das instruções</a:t>
            </a:r>
            <a:endParaRPr/>
          </a:p>
        </p:txBody>
      </p:sp>
      <p:sp>
        <p:nvSpPr>
          <p:cNvPr id="1474016592" name=""/>
          <p:cNvSpPr>
            <a:spLocks noGrp="1"/>
          </p:cNvSpPr>
          <p:nvPr/>
        </p:nvSpPr>
        <p:spPr bwMode="auto">
          <a:xfrm>
            <a:off x="523875" y="3333750"/>
            <a:ext cx="52197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Está claro quando usar a skill?</a:t>
            </a: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Quais entradas são necessárias?</a:t>
            </a: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que precisa ser feito?</a:t>
            </a: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Como reconhecer a conclusão?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As referências e os recursos existem?</a:t>
            </a:r>
            <a:endParaRPr/>
          </a:p>
        </p:txBody>
      </p:sp>
      <p:sp>
        <p:nvSpPr>
          <p:cNvPr id="817725588" name=""/>
          <p:cNvSpPr>
            <a:spLocks noGrp="1"/>
          </p:cNvSpPr>
          <p:nvPr/>
        </p:nvSpPr>
        <p:spPr bwMode="auto">
          <a:xfrm>
            <a:off x="6334125" y="2752725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765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651FF"/>
                </a:solidFill>
                <a:latin typeface="Arial"/>
                <a:ea typeface="Arial"/>
                <a:cs typeface="Arial"/>
              </a:rPr>
              <a:t>Comportamento observado</a:t>
            </a:r>
            <a:endParaRPr/>
          </a:p>
        </p:txBody>
      </p:sp>
      <p:sp>
        <p:nvSpPr>
          <p:cNvPr id="913639729" name=""/>
          <p:cNvSpPr>
            <a:spLocks noGrp="1"/>
          </p:cNvSpPr>
          <p:nvPr/>
        </p:nvSpPr>
        <p:spPr bwMode="auto">
          <a:xfrm>
            <a:off x="6334125" y="3333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skill produz o resultado esperado nos casos de teste?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Ela identifica faltas e limitações?</a:t>
            </a:r>
            <a:endParaRPr/>
          </a:p>
          <a:p>
            <a:pPr>
              <a:defRPr/>
            </a:pPr>
            <a:endParaRPr/>
          </a:p>
          <a:p>
            <a: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As evidências correspondem ao que foi executado ou conferido?</a:t>
            </a:r>
            <a:endParaRPr/>
          </a:p>
        </p:txBody>
      </p:sp>
      <p:sp>
        <p:nvSpPr>
          <p:cNvPr id="568680516" name=""/>
          <p:cNvSpPr>
            <a:spLocks noGrp="1"/>
          </p:cNvSpPr>
          <p:nvPr/>
        </p:nvSpPr>
        <p:spPr bwMode="auto">
          <a:xfrm>
            <a:off x="523875" y="61912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Uma skill útil acrescenta conhecimento e procedimento específicos à tarefa.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ONLYOFFICE/10.0.0.169</Application>
  <DocSecurity>0</DocSecurity>
  <PresentationFormat>On-screen Show (4:3)</PresentationFormat>
  <Paragraphs>0</Paragraphs>
  <Slides>32</Slides>
  <Notes>32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/>
  <cp:revision>2</cp:revision>
  <dcterms:created xsi:type="dcterms:W3CDTF">2026-10-25T22:02:49Z</dcterms:created>
  <dcterms:modified xsi:type="dcterms:W3CDTF">2026-10-26T21:02:03Z</dcterms:modified>
</cp:coreProperties>
</file>